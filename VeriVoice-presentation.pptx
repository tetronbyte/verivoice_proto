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Trebuchet MS Bold Italics" charset="1" panose="020B0703020202090204"/>
      <p:regular r:id="rId25"/>
    </p:embeddedFont>
    <p:embeddedFont>
      <p:font typeface="Trebuchet MS" charset="1" panose="020B0603020202020204"/>
      <p:regular r:id="rId26"/>
    </p:embeddedFont>
    <p:embeddedFont>
      <p:font typeface="Trebuchet MS Bold" charset="1" panose="020B0703020202020204"/>
      <p:regular r:id="rId28"/>
    </p:embeddedFont>
    <p:embeddedFont>
      <p:font typeface="Trebuchet MS Italics" charset="1" panose="020B0603020202090204"/>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notesMasters/notesMaster1.xml" Type="http://schemas.openxmlformats.org/officeDocument/2006/relationships/notesMaster"/><Relationship Id="rId23" Target="theme/theme2.xml" Type="http://schemas.openxmlformats.org/officeDocument/2006/relationships/theme"/><Relationship Id="rId24" Target="notesSlides/notesSlide1.xml" Type="http://schemas.openxmlformats.org/officeDocument/2006/relationships/notesSlide"/><Relationship Id="rId25" Target="fonts/font25.fntdata" Type="http://schemas.openxmlformats.org/officeDocument/2006/relationships/font"/><Relationship Id="rId26" Target="fonts/font26.fntdata" Type="http://schemas.openxmlformats.org/officeDocument/2006/relationships/font"/><Relationship Id="rId27" Target="notesSlides/notesSlide2.xml" Type="http://schemas.openxmlformats.org/officeDocument/2006/relationships/notesSlide"/><Relationship Id="rId28" Target="fonts/font28.fntdata" Type="http://schemas.openxmlformats.org/officeDocument/2006/relationships/font"/><Relationship Id="rId29" Target="notesSlides/notesSlide3.xml" Type="http://schemas.openxmlformats.org/officeDocument/2006/relationships/notesSlide"/><Relationship Id="rId3" Target="viewProps.xml" Type="http://schemas.openxmlformats.org/officeDocument/2006/relationships/viewProps"/><Relationship Id="rId30" Target="notesSlides/notesSlide4.xml" Type="http://schemas.openxmlformats.org/officeDocument/2006/relationships/notesSlide"/><Relationship Id="rId31" Target="fonts/font31.fntdata" Type="http://schemas.openxmlformats.org/officeDocument/2006/relationships/font"/><Relationship Id="rId32" Target="notesSlides/notesSlide5.xml" Type="http://schemas.openxmlformats.org/officeDocument/2006/relationships/notesSlide"/><Relationship Id="rId33" Target="notesSlides/notesSlide6.xml" Type="http://schemas.openxmlformats.org/officeDocument/2006/relationships/notesSlide"/><Relationship Id="rId34" Target="notesSlides/notesSlide7.xml" Type="http://schemas.openxmlformats.org/officeDocument/2006/relationships/notesSlide"/><Relationship Id="rId35" Target="notesSlides/notesSlide8.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 Id="rId5" Target="../media/image7.jpeg" Type="http://schemas.openxmlformats.org/officeDocument/2006/relationships/image"/><Relationship Id="rId6" Target="../media/image8.jpeg" Type="http://schemas.openxmlformats.org/officeDocument/2006/relationships/image"/><Relationship Id="rId7" Target="../media/image9.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https://www.gsma.com/mobilefordevelopment/programme/mobile-for-humanitarian-innovation/verifying-recipients-of-cash-assistance-through-voice-id-pilot-project-lessons-and-outcomes/"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7.png" Type="http://schemas.openxmlformats.org/officeDocument/2006/relationships/image"/><Relationship Id="rId4" Target="../media/image1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png" Type="http://schemas.openxmlformats.org/officeDocument/2006/relationships/image"/><Relationship Id="rId12" Target="../media/image27.svg" Type="http://schemas.openxmlformats.org/officeDocument/2006/relationships/image"/><Relationship Id="rId2" Target="../notesSlides/notesSlide7.xml" Type="http://schemas.openxmlformats.org/officeDocument/2006/relationships/notesSlide"/><Relationship Id="rId3" Target="../media/image4.jpe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jpeg" Type="http://schemas.openxmlformats.org/officeDocument/2006/relationships/image"/><Relationship Id="rId3" Target="../media/image29.png" Type="http://schemas.openxmlformats.org/officeDocument/2006/relationships/image"/><Relationship Id="rId4" Target="../media/image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839" y="0"/>
            <a:ext cx="18295839" cy="10302135"/>
            <a:chOff x="0" y="0"/>
            <a:chExt cx="24394452" cy="13736180"/>
          </a:xfrm>
        </p:grpSpPr>
        <p:sp>
          <p:nvSpPr>
            <p:cNvPr name="Freeform 3" id="3"/>
            <p:cNvSpPr/>
            <p:nvPr/>
          </p:nvSpPr>
          <p:spPr>
            <a:xfrm flipH="false" flipV="false" rot="0">
              <a:off x="0" y="0"/>
              <a:ext cx="24394413" cy="13736193"/>
            </a:xfrm>
            <a:custGeom>
              <a:avLst/>
              <a:gdLst/>
              <a:ahLst/>
              <a:cxnLst/>
              <a:rect r="r" b="b" t="t" l="l"/>
              <a:pathLst>
                <a:path h="13736193" w="24394413">
                  <a:moveTo>
                    <a:pt x="0" y="0"/>
                  </a:moveTo>
                  <a:lnTo>
                    <a:pt x="24394413" y="0"/>
                  </a:lnTo>
                  <a:lnTo>
                    <a:pt x="24394413" y="13736193"/>
                  </a:lnTo>
                  <a:lnTo>
                    <a:pt x="0" y="13736193"/>
                  </a:lnTo>
                  <a:lnTo>
                    <a:pt x="0" y="0"/>
                  </a:lnTo>
                  <a:close/>
                </a:path>
              </a:pathLst>
            </a:custGeom>
            <a:blipFill>
              <a:blip r:embed="rId3"/>
              <a:stretch>
                <a:fillRect l="0" t="0" r="-26" b="0"/>
              </a:stretch>
            </a:blipFill>
          </p:spPr>
        </p:sp>
      </p:grpSp>
      <p:grpSp>
        <p:nvGrpSpPr>
          <p:cNvPr name="Group 4" id="4"/>
          <p:cNvGrpSpPr/>
          <p:nvPr/>
        </p:nvGrpSpPr>
        <p:grpSpPr>
          <a:xfrm rot="0">
            <a:off x="10171805" y="8736063"/>
            <a:ext cx="2845822" cy="802862"/>
            <a:chOff x="0" y="0"/>
            <a:chExt cx="3794430" cy="1070483"/>
          </a:xfrm>
        </p:grpSpPr>
        <p:sp>
          <p:nvSpPr>
            <p:cNvPr name="Freeform 5" id="5"/>
            <p:cNvSpPr/>
            <p:nvPr/>
          </p:nvSpPr>
          <p:spPr>
            <a:xfrm flipH="false" flipV="false" rot="0">
              <a:off x="0" y="0"/>
              <a:ext cx="3794379" cy="1070483"/>
            </a:xfrm>
            <a:custGeom>
              <a:avLst/>
              <a:gdLst/>
              <a:ahLst/>
              <a:cxnLst/>
              <a:rect r="r" b="b" t="t" l="l"/>
              <a:pathLst>
                <a:path h="1070483" w="3794379">
                  <a:moveTo>
                    <a:pt x="0" y="0"/>
                  </a:moveTo>
                  <a:lnTo>
                    <a:pt x="3794379" y="0"/>
                  </a:lnTo>
                  <a:lnTo>
                    <a:pt x="3794379" y="1070483"/>
                  </a:lnTo>
                  <a:lnTo>
                    <a:pt x="0" y="1070483"/>
                  </a:lnTo>
                  <a:lnTo>
                    <a:pt x="0" y="0"/>
                  </a:lnTo>
                  <a:close/>
                </a:path>
              </a:pathLst>
            </a:custGeom>
            <a:blipFill>
              <a:blip r:embed="rId4"/>
              <a:stretch>
                <a:fillRect l="0" t="0" r="-1" b="0"/>
              </a:stretch>
            </a:blipFill>
          </p:spPr>
        </p:sp>
      </p:grpSp>
      <p:grpSp>
        <p:nvGrpSpPr>
          <p:cNvPr name="Group 6" id="6"/>
          <p:cNvGrpSpPr/>
          <p:nvPr/>
        </p:nvGrpSpPr>
        <p:grpSpPr>
          <a:xfrm rot="0">
            <a:off x="13650954" y="8353520"/>
            <a:ext cx="1418577" cy="1179471"/>
            <a:chOff x="0" y="0"/>
            <a:chExt cx="1891436" cy="1572628"/>
          </a:xfrm>
        </p:grpSpPr>
        <p:sp>
          <p:nvSpPr>
            <p:cNvPr name="Freeform 7" id="7"/>
            <p:cNvSpPr/>
            <p:nvPr/>
          </p:nvSpPr>
          <p:spPr>
            <a:xfrm flipH="false" flipV="false" rot="0">
              <a:off x="0" y="0"/>
              <a:ext cx="1891411" cy="1572641"/>
            </a:xfrm>
            <a:custGeom>
              <a:avLst/>
              <a:gdLst/>
              <a:ahLst/>
              <a:cxnLst/>
              <a:rect r="r" b="b" t="t" l="l"/>
              <a:pathLst>
                <a:path h="1572641" w="1891411">
                  <a:moveTo>
                    <a:pt x="0" y="0"/>
                  </a:moveTo>
                  <a:lnTo>
                    <a:pt x="1891411" y="0"/>
                  </a:lnTo>
                  <a:lnTo>
                    <a:pt x="1891411" y="1572641"/>
                  </a:lnTo>
                  <a:lnTo>
                    <a:pt x="0" y="1572641"/>
                  </a:lnTo>
                  <a:lnTo>
                    <a:pt x="0" y="0"/>
                  </a:lnTo>
                  <a:close/>
                </a:path>
              </a:pathLst>
            </a:custGeom>
            <a:blipFill>
              <a:blip r:embed="rId5"/>
              <a:stretch>
                <a:fillRect l="0" t="0" r="-1" b="0"/>
              </a:stretch>
            </a:blipFill>
          </p:spPr>
        </p:sp>
      </p:grpSp>
      <p:sp>
        <p:nvSpPr>
          <p:cNvPr name="AutoShape 8" id="8"/>
          <p:cNvSpPr/>
          <p:nvPr/>
        </p:nvSpPr>
        <p:spPr>
          <a:xfrm>
            <a:off x="15381429" y="8286473"/>
            <a:ext cx="9522" cy="1251282"/>
          </a:xfrm>
          <a:prstGeom prst="line">
            <a:avLst/>
          </a:prstGeom>
          <a:ln cap="rnd" w="9525">
            <a:solidFill>
              <a:srgbClr val="D1D3D4"/>
            </a:solidFill>
            <a:prstDash val="solid"/>
            <a:headEnd type="none" len="sm" w="sm"/>
            <a:tailEnd type="none" len="sm" w="sm"/>
          </a:ln>
        </p:spPr>
      </p:sp>
      <p:sp>
        <p:nvSpPr>
          <p:cNvPr name="AutoShape 9" id="9"/>
          <p:cNvSpPr/>
          <p:nvPr/>
        </p:nvSpPr>
        <p:spPr>
          <a:xfrm>
            <a:off x="13329525" y="8286473"/>
            <a:ext cx="9522" cy="1251282"/>
          </a:xfrm>
          <a:prstGeom prst="line">
            <a:avLst/>
          </a:prstGeom>
          <a:ln cap="rnd" w="9525">
            <a:solidFill>
              <a:srgbClr val="D1D3D4"/>
            </a:solidFill>
            <a:prstDash val="solid"/>
            <a:headEnd type="none" len="sm" w="sm"/>
            <a:tailEnd type="none" len="sm" w="sm"/>
          </a:ln>
        </p:spPr>
      </p:sp>
      <p:grpSp>
        <p:nvGrpSpPr>
          <p:cNvPr name="Group 10" id="10"/>
          <p:cNvGrpSpPr/>
          <p:nvPr/>
        </p:nvGrpSpPr>
        <p:grpSpPr>
          <a:xfrm rot="0">
            <a:off x="279084" y="1546863"/>
            <a:ext cx="8346110" cy="1270147"/>
            <a:chOff x="0" y="0"/>
            <a:chExt cx="11128146" cy="1693529"/>
          </a:xfrm>
        </p:grpSpPr>
        <p:sp>
          <p:nvSpPr>
            <p:cNvPr name="Freeform 11" id="11"/>
            <p:cNvSpPr/>
            <p:nvPr/>
          </p:nvSpPr>
          <p:spPr>
            <a:xfrm flipH="false" flipV="false" rot="0">
              <a:off x="0" y="0"/>
              <a:ext cx="11128142" cy="1693528"/>
            </a:xfrm>
            <a:custGeom>
              <a:avLst/>
              <a:gdLst/>
              <a:ahLst/>
              <a:cxnLst/>
              <a:rect r="r" b="b" t="t" l="l"/>
              <a:pathLst>
                <a:path h="1693528" w="11128142">
                  <a:moveTo>
                    <a:pt x="0" y="0"/>
                  </a:moveTo>
                  <a:lnTo>
                    <a:pt x="11128142" y="0"/>
                  </a:lnTo>
                  <a:lnTo>
                    <a:pt x="11128142" y="1693528"/>
                  </a:lnTo>
                  <a:lnTo>
                    <a:pt x="0" y="1693528"/>
                  </a:lnTo>
                  <a:close/>
                </a:path>
              </a:pathLst>
            </a:custGeom>
            <a:blipFill>
              <a:blip r:embed="rId6">
                <a:alphaModFix amt="0"/>
              </a:blip>
              <a:stretch>
                <a:fillRect l="0" t="-76534" r="0" b="-79537"/>
              </a:stretch>
            </a:blipFill>
          </p:spPr>
        </p:sp>
        <p:sp>
          <p:nvSpPr>
            <p:cNvPr name="TextBox 12" id="12"/>
            <p:cNvSpPr txBox="true"/>
            <p:nvPr/>
          </p:nvSpPr>
          <p:spPr>
            <a:xfrm>
              <a:off x="0" y="38100"/>
              <a:ext cx="11128146" cy="1655429"/>
            </a:xfrm>
            <a:prstGeom prst="rect">
              <a:avLst/>
            </a:prstGeom>
          </p:spPr>
          <p:txBody>
            <a:bodyPr anchor="b" rtlCol="false" tIns="0" lIns="0" bIns="0" rIns="0"/>
            <a:lstStyle/>
            <a:p>
              <a:pPr algn="l">
                <a:lnSpc>
                  <a:spcPts val="4536"/>
                </a:lnSpc>
              </a:pPr>
              <a:r>
                <a:rPr lang="en-US" b="true" sz="4200" i="true">
                  <a:solidFill>
                    <a:srgbClr val="FFFFFF"/>
                  </a:solidFill>
                  <a:latin typeface="Trebuchet MS Bold Italics"/>
                  <a:ea typeface="Trebuchet MS Bold Italics"/>
                  <a:cs typeface="Trebuchet MS Bold Italics"/>
                  <a:sym typeface="Trebuchet MS Bold Italics"/>
                </a:rPr>
                <a:t>VeriVoice</a:t>
              </a:r>
            </a:p>
          </p:txBody>
        </p:sp>
      </p:grpSp>
      <p:grpSp>
        <p:nvGrpSpPr>
          <p:cNvPr name="Group 13" id="13"/>
          <p:cNvGrpSpPr/>
          <p:nvPr/>
        </p:nvGrpSpPr>
        <p:grpSpPr>
          <a:xfrm rot="0">
            <a:off x="279084" y="3542428"/>
            <a:ext cx="5108152" cy="6478934"/>
            <a:chOff x="0" y="0"/>
            <a:chExt cx="6810870" cy="8638578"/>
          </a:xfrm>
        </p:grpSpPr>
        <p:sp>
          <p:nvSpPr>
            <p:cNvPr name="Freeform 14" id="14"/>
            <p:cNvSpPr/>
            <p:nvPr/>
          </p:nvSpPr>
          <p:spPr>
            <a:xfrm flipH="false" flipV="false" rot="0">
              <a:off x="0" y="0"/>
              <a:ext cx="6810867" cy="8638578"/>
            </a:xfrm>
            <a:custGeom>
              <a:avLst/>
              <a:gdLst/>
              <a:ahLst/>
              <a:cxnLst/>
              <a:rect r="r" b="b" t="t" l="l"/>
              <a:pathLst>
                <a:path h="8638578" w="6810867">
                  <a:moveTo>
                    <a:pt x="0" y="0"/>
                  </a:moveTo>
                  <a:lnTo>
                    <a:pt x="6810867" y="0"/>
                  </a:lnTo>
                  <a:lnTo>
                    <a:pt x="6810867" y="8638578"/>
                  </a:lnTo>
                  <a:lnTo>
                    <a:pt x="0" y="8638578"/>
                  </a:lnTo>
                  <a:close/>
                </a:path>
              </a:pathLst>
            </a:custGeom>
            <a:blipFill>
              <a:blip r:embed="rId6">
                <a:alphaModFix amt="0"/>
              </a:blip>
              <a:stretch>
                <a:fillRect l="0" t="-18308" r="-63388" b="68107"/>
              </a:stretch>
            </a:blipFill>
          </p:spPr>
        </p:sp>
        <p:sp>
          <p:nvSpPr>
            <p:cNvPr name="TextBox 15" id="15"/>
            <p:cNvSpPr txBox="true"/>
            <p:nvPr/>
          </p:nvSpPr>
          <p:spPr>
            <a:xfrm>
              <a:off x="0" y="38100"/>
              <a:ext cx="6810870" cy="8600478"/>
            </a:xfrm>
            <a:prstGeom prst="rect">
              <a:avLst/>
            </a:prstGeom>
          </p:spPr>
          <p:txBody>
            <a:bodyPr anchor="b" rtlCol="false" tIns="0" lIns="0" bIns="0" rIns="0"/>
            <a:lstStyle/>
            <a:p>
              <a:pPr algn="l">
                <a:lnSpc>
                  <a:spcPts val="4195"/>
                </a:lnSpc>
              </a:pPr>
              <a:r>
                <a:rPr lang="en-US" sz="3884">
                  <a:solidFill>
                    <a:srgbClr val="FFFFFF"/>
                  </a:solidFill>
                  <a:latin typeface="Trebuchet MS"/>
                  <a:ea typeface="Trebuchet MS"/>
                  <a:cs typeface="Trebuchet MS"/>
                  <a:sym typeface="Trebuchet MS"/>
                </a:rPr>
                <a:t>Voice biometric authentication on MOSIP e-Signet enabling refugee proof-of-life(for remote aid claiming), social cash transfer claims, and wallet payments for government services from a feature phone.</a:t>
              </a:r>
            </a:p>
            <a:p>
              <a:pPr algn="l">
                <a:lnSpc>
                  <a:spcPts val="4195"/>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140">
            <a:off x="654872" y="9575359"/>
            <a:ext cx="11852405" cy="0"/>
          </a:xfrm>
          <a:prstGeom prst="line">
            <a:avLst/>
          </a:prstGeom>
          <a:ln cap="rnd" w="9525">
            <a:solidFill>
              <a:srgbClr val="284181"/>
            </a:solidFill>
            <a:prstDash val="solid"/>
            <a:headEnd type="none" len="sm" w="sm"/>
            <a:tailEnd type="none" len="sm" w="sm"/>
          </a:ln>
        </p:spPr>
      </p:sp>
      <p:sp>
        <p:nvSpPr>
          <p:cNvPr name="AutoShape 3" id="3"/>
          <p:cNvSpPr/>
          <p:nvPr/>
        </p:nvSpPr>
        <p:spPr>
          <a:xfrm rot="10020">
            <a:off x="12686767" y="9575359"/>
            <a:ext cx="4889106" cy="0"/>
          </a:xfrm>
          <a:prstGeom prst="line">
            <a:avLst/>
          </a:prstGeom>
          <a:ln cap="rnd" w="9525">
            <a:solidFill>
              <a:srgbClr val="00BFDF"/>
            </a:solidFill>
            <a:prstDash val="solid"/>
            <a:headEnd type="none" len="sm" w="sm"/>
            <a:tailEnd type="none" len="sm" w="sm"/>
          </a:ln>
        </p:spPr>
      </p:sp>
      <p:sp>
        <p:nvSpPr>
          <p:cNvPr name="TextBox 4" id="4"/>
          <p:cNvSpPr txBox="true"/>
          <p:nvPr/>
        </p:nvSpPr>
        <p:spPr>
          <a:xfrm rot="0">
            <a:off x="603371" y="373380"/>
            <a:ext cx="16928840" cy="433959"/>
          </a:xfrm>
          <a:prstGeom prst="rect">
            <a:avLst/>
          </a:prstGeom>
        </p:spPr>
        <p:txBody>
          <a:bodyPr anchor="t" rtlCol="false" tIns="0" lIns="0" bIns="0" rIns="0">
            <a:spAutoFit/>
          </a:bodyPr>
          <a:lstStyle/>
          <a:p>
            <a:pPr algn="l">
              <a:lnSpc>
                <a:spcPts val="3240"/>
              </a:lnSpc>
            </a:pPr>
            <a:r>
              <a:rPr lang="en-US" sz="3000" b="true">
                <a:solidFill>
                  <a:srgbClr val="284181"/>
                </a:solidFill>
                <a:latin typeface="Trebuchet MS Bold"/>
                <a:ea typeface="Trebuchet MS Bold"/>
                <a:cs typeface="Trebuchet MS Bold"/>
                <a:sym typeface="Trebuchet MS Bold"/>
              </a:rPr>
              <a:t>Team introduction</a:t>
            </a:r>
          </a:p>
        </p:txBody>
      </p:sp>
      <p:grpSp>
        <p:nvGrpSpPr>
          <p:cNvPr name="Group 5" id="5"/>
          <p:cNvGrpSpPr/>
          <p:nvPr/>
        </p:nvGrpSpPr>
        <p:grpSpPr>
          <a:xfrm rot="0">
            <a:off x="749322" y="3741877"/>
            <a:ext cx="3165758" cy="4312358"/>
            <a:chOff x="0" y="0"/>
            <a:chExt cx="4221010" cy="5749811"/>
          </a:xfrm>
        </p:grpSpPr>
        <p:sp>
          <p:nvSpPr>
            <p:cNvPr name="Freeform 6" id="6"/>
            <p:cNvSpPr/>
            <p:nvPr/>
          </p:nvSpPr>
          <p:spPr>
            <a:xfrm flipH="false" flipV="false" rot="0">
              <a:off x="0" y="0"/>
              <a:ext cx="4220972" cy="5749798"/>
            </a:xfrm>
            <a:custGeom>
              <a:avLst/>
              <a:gdLst/>
              <a:ahLst/>
              <a:cxnLst/>
              <a:rect r="r" b="b" t="t" l="l"/>
              <a:pathLst>
                <a:path h="5749798" w="4220972">
                  <a:moveTo>
                    <a:pt x="0" y="2110486"/>
                  </a:moveTo>
                  <a:cubicBezTo>
                    <a:pt x="0" y="944880"/>
                    <a:pt x="944880" y="0"/>
                    <a:pt x="2110486" y="0"/>
                  </a:cubicBezTo>
                  <a:cubicBezTo>
                    <a:pt x="3276092" y="0"/>
                    <a:pt x="4220972" y="944880"/>
                    <a:pt x="4220972" y="2110486"/>
                  </a:cubicBezTo>
                  <a:lnTo>
                    <a:pt x="4220972" y="3639312"/>
                  </a:lnTo>
                  <a:cubicBezTo>
                    <a:pt x="4220972" y="4804918"/>
                    <a:pt x="3276092" y="5749798"/>
                    <a:pt x="2110486" y="5749798"/>
                  </a:cubicBezTo>
                  <a:cubicBezTo>
                    <a:pt x="944880" y="5749798"/>
                    <a:pt x="0" y="4804918"/>
                    <a:pt x="0" y="3639312"/>
                  </a:cubicBezTo>
                  <a:close/>
                </a:path>
              </a:pathLst>
            </a:custGeom>
            <a:solidFill>
              <a:srgbClr val="E6E7E8"/>
            </a:solidFill>
          </p:spPr>
        </p:sp>
      </p:grpSp>
      <p:grpSp>
        <p:nvGrpSpPr>
          <p:cNvPr name="Group 7" id="7"/>
          <p:cNvGrpSpPr/>
          <p:nvPr/>
        </p:nvGrpSpPr>
        <p:grpSpPr>
          <a:xfrm rot="0">
            <a:off x="1065581" y="4064003"/>
            <a:ext cx="2533231" cy="2582313"/>
            <a:chOff x="0" y="0"/>
            <a:chExt cx="3377641" cy="3443084"/>
          </a:xfrm>
        </p:grpSpPr>
        <p:sp>
          <p:nvSpPr>
            <p:cNvPr name="Freeform 8" id="8"/>
            <p:cNvSpPr/>
            <p:nvPr/>
          </p:nvSpPr>
          <p:spPr>
            <a:xfrm flipH="false" flipV="false" rot="0">
              <a:off x="0" y="0"/>
              <a:ext cx="3377692" cy="3443097"/>
            </a:xfrm>
            <a:custGeom>
              <a:avLst/>
              <a:gdLst/>
              <a:ahLst/>
              <a:cxnLst/>
              <a:rect r="r" b="b" t="t" l="l"/>
              <a:pathLst>
                <a:path h="3443097" w="3377692">
                  <a:moveTo>
                    <a:pt x="0" y="0"/>
                  </a:moveTo>
                  <a:lnTo>
                    <a:pt x="3377692" y="0"/>
                  </a:lnTo>
                  <a:lnTo>
                    <a:pt x="3377692" y="3443097"/>
                  </a:lnTo>
                  <a:lnTo>
                    <a:pt x="0" y="3443097"/>
                  </a:lnTo>
                  <a:lnTo>
                    <a:pt x="0" y="0"/>
                  </a:lnTo>
                  <a:close/>
                </a:path>
              </a:pathLst>
            </a:custGeom>
            <a:blipFill>
              <a:blip r:embed="rId3"/>
              <a:stretch>
                <a:fillRect l="0" t="-2598" r="0" b="-2598"/>
              </a:stretch>
            </a:blipFill>
          </p:spPr>
        </p:sp>
      </p:grpSp>
      <p:grpSp>
        <p:nvGrpSpPr>
          <p:cNvPr name="Group 9" id="9"/>
          <p:cNvGrpSpPr/>
          <p:nvPr/>
        </p:nvGrpSpPr>
        <p:grpSpPr>
          <a:xfrm rot="0">
            <a:off x="4231338" y="3741877"/>
            <a:ext cx="3165758" cy="4312358"/>
            <a:chOff x="0" y="0"/>
            <a:chExt cx="4221010" cy="5749811"/>
          </a:xfrm>
        </p:grpSpPr>
        <p:sp>
          <p:nvSpPr>
            <p:cNvPr name="Freeform 10" id="10"/>
            <p:cNvSpPr/>
            <p:nvPr/>
          </p:nvSpPr>
          <p:spPr>
            <a:xfrm flipH="false" flipV="false" rot="0">
              <a:off x="0" y="0"/>
              <a:ext cx="4220972" cy="5749798"/>
            </a:xfrm>
            <a:custGeom>
              <a:avLst/>
              <a:gdLst/>
              <a:ahLst/>
              <a:cxnLst/>
              <a:rect r="r" b="b" t="t" l="l"/>
              <a:pathLst>
                <a:path h="5749798" w="4220972">
                  <a:moveTo>
                    <a:pt x="0" y="2110486"/>
                  </a:moveTo>
                  <a:cubicBezTo>
                    <a:pt x="0" y="944880"/>
                    <a:pt x="944880" y="0"/>
                    <a:pt x="2110486" y="0"/>
                  </a:cubicBezTo>
                  <a:cubicBezTo>
                    <a:pt x="3276092" y="0"/>
                    <a:pt x="4220972" y="944880"/>
                    <a:pt x="4220972" y="2110486"/>
                  </a:cubicBezTo>
                  <a:lnTo>
                    <a:pt x="4220972" y="3639312"/>
                  </a:lnTo>
                  <a:cubicBezTo>
                    <a:pt x="4220972" y="4804918"/>
                    <a:pt x="3276092" y="5749798"/>
                    <a:pt x="2110486" y="5749798"/>
                  </a:cubicBezTo>
                  <a:cubicBezTo>
                    <a:pt x="944880" y="5749798"/>
                    <a:pt x="0" y="4804918"/>
                    <a:pt x="0" y="3639312"/>
                  </a:cubicBezTo>
                  <a:close/>
                </a:path>
              </a:pathLst>
            </a:custGeom>
            <a:solidFill>
              <a:srgbClr val="E6E7E8"/>
            </a:solidFill>
          </p:spPr>
        </p:sp>
      </p:grpSp>
      <p:grpSp>
        <p:nvGrpSpPr>
          <p:cNvPr name="Group 11" id="11"/>
          <p:cNvGrpSpPr/>
          <p:nvPr/>
        </p:nvGrpSpPr>
        <p:grpSpPr>
          <a:xfrm rot="0">
            <a:off x="7713355" y="3741877"/>
            <a:ext cx="3165758" cy="4312358"/>
            <a:chOff x="0" y="0"/>
            <a:chExt cx="4221010" cy="5749811"/>
          </a:xfrm>
        </p:grpSpPr>
        <p:sp>
          <p:nvSpPr>
            <p:cNvPr name="Freeform 12" id="12"/>
            <p:cNvSpPr/>
            <p:nvPr/>
          </p:nvSpPr>
          <p:spPr>
            <a:xfrm flipH="false" flipV="false" rot="0">
              <a:off x="0" y="0"/>
              <a:ext cx="4220972" cy="5749798"/>
            </a:xfrm>
            <a:custGeom>
              <a:avLst/>
              <a:gdLst/>
              <a:ahLst/>
              <a:cxnLst/>
              <a:rect r="r" b="b" t="t" l="l"/>
              <a:pathLst>
                <a:path h="5749798" w="4220972">
                  <a:moveTo>
                    <a:pt x="0" y="2110486"/>
                  </a:moveTo>
                  <a:cubicBezTo>
                    <a:pt x="0" y="944880"/>
                    <a:pt x="944880" y="0"/>
                    <a:pt x="2110486" y="0"/>
                  </a:cubicBezTo>
                  <a:cubicBezTo>
                    <a:pt x="3276092" y="0"/>
                    <a:pt x="4220972" y="944880"/>
                    <a:pt x="4220972" y="2110486"/>
                  </a:cubicBezTo>
                  <a:lnTo>
                    <a:pt x="4220972" y="3639312"/>
                  </a:lnTo>
                  <a:cubicBezTo>
                    <a:pt x="4220972" y="4804918"/>
                    <a:pt x="3276092" y="5749798"/>
                    <a:pt x="2110486" y="5749798"/>
                  </a:cubicBezTo>
                  <a:cubicBezTo>
                    <a:pt x="944880" y="5749798"/>
                    <a:pt x="0" y="4804918"/>
                    <a:pt x="0" y="3639312"/>
                  </a:cubicBezTo>
                  <a:close/>
                </a:path>
              </a:pathLst>
            </a:custGeom>
            <a:solidFill>
              <a:srgbClr val="E6E7E8"/>
            </a:solidFill>
          </p:spPr>
        </p:sp>
      </p:grpSp>
      <p:grpSp>
        <p:nvGrpSpPr>
          <p:cNvPr name="Group 13" id="13"/>
          <p:cNvGrpSpPr/>
          <p:nvPr/>
        </p:nvGrpSpPr>
        <p:grpSpPr>
          <a:xfrm rot="0">
            <a:off x="11195371" y="3741877"/>
            <a:ext cx="3165758" cy="4312358"/>
            <a:chOff x="0" y="0"/>
            <a:chExt cx="4221010" cy="5749811"/>
          </a:xfrm>
        </p:grpSpPr>
        <p:sp>
          <p:nvSpPr>
            <p:cNvPr name="Freeform 14" id="14"/>
            <p:cNvSpPr/>
            <p:nvPr/>
          </p:nvSpPr>
          <p:spPr>
            <a:xfrm flipH="false" flipV="false" rot="0">
              <a:off x="0" y="0"/>
              <a:ext cx="4220972" cy="5749798"/>
            </a:xfrm>
            <a:custGeom>
              <a:avLst/>
              <a:gdLst/>
              <a:ahLst/>
              <a:cxnLst/>
              <a:rect r="r" b="b" t="t" l="l"/>
              <a:pathLst>
                <a:path h="5749798" w="4220972">
                  <a:moveTo>
                    <a:pt x="0" y="2110486"/>
                  </a:moveTo>
                  <a:cubicBezTo>
                    <a:pt x="0" y="944880"/>
                    <a:pt x="944880" y="0"/>
                    <a:pt x="2110486" y="0"/>
                  </a:cubicBezTo>
                  <a:cubicBezTo>
                    <a:pt x="3276092" y="0"/>
                    <a:pt x="4220972" y="944880"/>
                    <a:pt x="4220972" y="2110486"/>
                  </a:cubicBezTo>
                  <a:lnTo>
                    <a:pt x="4220972" y="3639312"/>
                  </a:lnTo>
                  <a:cubicBezTo>
                    <a:pt x="4220972" y="4804918"/>
                    <a:pt x="3276092" y="5749798"/>
                    <a:pt x="2110486" y="5749798"/>
                  </a:cubicBezTo>
                  <a:cubicBezTo>
                    <a:pt x="944880" y="5749798"/>
                    <a:pt x="0" y="4804918"/>
                    <a:pt x="0" y="3639312"/>
                  </a:cubicBezTo>
                  <a:close/>
                </a:path>
              </a:pathLst>
            </a:custGeom>
            <a:solidFill>
              <a:srgbClr val="E6E7E8"/>
            </a:solidFill>
          </p:spPr>
        </p:sp>
      </p:grpSp>
      <p:grpSp>
        <p:nvGrpSpPr>
          <p:cNvPr name="Group 15" id="15"/>
          <p:cNvGrpSpPr/>
          <p:nvPr/>
        </p:nvGrpSpPr>
        <p:grpSpPr>
          <a:xfrm rot="0">
            <a:off x="14677387" y="3741877"/>
            <a:ext cx="3165758" cy="4312358"/>
            <a:chOff x="0" y="0"/>
            <a:chExt cx="4221010" cy="5749811"/>
          </a:xfrm>
        </p:grpSpPr>
        <p:sp>
          <p:nvSpPr>
            <p:cNvPr name="Freeform 16" id="16"/>
            <p:cNvSpPr/>
            <p:nvPr/>
          </p:nvSpPr>
          <p:spPr>
            <a:xfrm flipH="false" flipV="false" rot="0">
              <a:off x="0" y="0"/>
              <a:ext cx="4220972" cy="5749798"/>
            </a:xfrm>
            <a:custGeom>
              <a:avLst/>
              <a:gdLst/>
              <a:ahLst/>
              <a:cxnLst/>
              <a:rect r="r" b="b" t="t" l="l"/>
              <a:pathLst>
                <a:path h="5749798" w="4220972">
                  <a:moveTo>
                    <a:pt x="0" y="2110486"/>
                  </a:moveTo>
                  <a:cubicBezTo>
                    <a:pt x="0" y="944880"/>
                    <a:pt x="944880" y="0"/>
                    <a:pt x="2110486" y="0"/>
                  </a:cubicBezTo>
                  <a:cubicBezTo>
                    <a:pt x="3276092" y="0"/>
                    <a:pt x="4220972" y="944880"/>
                    <a:pt x="4220972" y="2110486"/>
                  </a:cubicBezTo>
                  <a:lnTo>
                    <a:pt x="4220972" y="3639312"/>
                  </a:lnTo>
                  <a:cubicBezTo>
                    <a:pt x="4220972" y="4804918"/>
                    <a:pt x="3276092" y="5749798"/>
                    <a:pt x="2110486" y="5749798"/>
                  </a:cubicBezTo>
                  <a:cubicBezTo>
                    <a:pt x="944880" y="5749798"/>
                    <a:pt x="0" y="4804918"/>
                    <a:pt x="0" y="3639312"/>
                  </a:cubicBezTo>
                  <a:close/>
                </a:path>
              </a:pathLst>
            </a:custGeom>
            <a:solidFill>
              <a:srgbClr val="E6E7E8"/>
            </a:solidFill>
          </p:spPr>
        </p:sp>
      </p:grpSp>
      <p:grpSp>
        <p:nvGrpSpPr>
          <p:cNvPr name="Group 17" id="17"/>
          <p:cNvGrpSpPr/>
          <p:nvPr/>
        </p:nvGrpSpPr>
        <p:grpSpPr>
          <a:xfrm rot="0">
            <a:off x="12734220" y="2686"/>
            <a:ext cx="4107771" cy="578365"/>
            <a:chOff x="0" y="0"/>
            <a:chExt cx="5477027" cy="771153"/>
          </a:xfrm>
        </p:grpSpPr>
        <p:sp>
          <p:nvSpPr>
            <p:cNvPr name="Freeform 18" id="18"/>
            <p:cNvSpPr/>
            <p:nvPr/>
          </p:nvSpPr>
          <p:spPr>
            <a:xfrm flipH="false" flipV="false" rot="0">
              <a:off x="0" y="0"/>
              <a:ext cx="5477002" cy="771125"/>
            </a:xfrm>
            <a:custGeom>
              <a:avLst/>
              <a:gdLst/>
              <a:ahLst/>
              <a:cxnLst/>
              <a:rect r="r" b="b" t="t" l="l"/>
              <a:pathLst>
                <a:path h="771125" w="5477002">
                  <a:moveTo>
                    <a:pt x="0" y="0"/>
                  </a:moveTo>
                  <a:lnTo>
                    <a:pt x="5477002" y="0"/>
                  </a:lnTo>
                  <a:lnTo>
                    <a:pt x="5477002" y="771125"/>
                  </a:lnTo>
                  <a:lnTo>
                    <a:pt x="0" y="771125"/>
                  </a:lnTo>
                  <a:close/>
                </a:path>
              </a:pathLst>
            </a:custGeom>
            <a:solidFill>
              <a:srgbClr val="F79333"/>
            </a:solidFill>
          </p:spPr>
        </p:sp>
        <p:sp>
          <p:nvSpPr>
            <p:cNvPr name="TextBox 19" id="19"/>
            <p:cNvSpPr txBox="true"/>
            <p:nvPr/>
          </p:nvSpPr>
          <p:spPr>
            <a:xfrm>
              <a:off x="0" y="-9525"/>
              <a:ext cx="5477027" cy="780678"/>
            </a:xfrm>
            <a:prstGeom prst="rect">
              <a:avLst/>
            </a:prstGeom>
          </p:spPr>
          <p:txBody>
            <a:bodyPr anchor="ctr" rtlCol="false" tIns="50800" lIns="50800" bIns="50800" rIns="50800"/>
            <a:lstStyle/>
            <a:p>
              <a:pPr algn="ctr">
                <a:lnSpc>
                  <a:spcPts val="3240"/>
                </a:lnSpc>
              </a:pPr>
              <a:r>
                <a:rPr lang="en-US" sz="2700">
                  <a:solidFill>
                    <a:srgbClr val="FFFFFF"/>
                  </a:solidFill>
                  <a:latin typeface="Trebuchet MS"/>
                  <a:ea typeface="Trebuchet MS"/>
                  <a:cs typeface="Trebuchet MS"/>
                  <a:sym typeface="Trebuchet MS"/>
                </a:rPr>
                <a:t>East Africa</a:t>
              </a:r>
            </a:p>
          </p:txBody>
        </p:sp>
      </p:grpSp>
      <p:grpSp>
        <p:nvGrpSpPr>
          <p:cNvPr name="Group 20" id="20"/>
          <p:cNvGrpSpPr/>
          <p:nvPr/>
        </p:nvGrpSpPr>
        <p:grpSpPr>
          <a:xfrm rot="0">
            <a:off x="4551474" y="4214308"/>
            <a:ext cx="2533231" cy="2582313"/>
            <a:chOff x="0" y="0"/>
            <a:chExt cx="3377641" cy="3443084"/>
          </a:xfrm>
        </p:grpSpPr>
        <p:sp>
          <p:nvSpPr>
            <p:cNvPr name="Freeform 21" id="21"/>
            <p:cNvSpPr/>
            <p:nvPr/>
          </p:nvSpPr>
          <p:spPr>
            <a:xfrm flipH="false" flipV="false" rot="0">
              <a:off x="0" y="0"/>
              <a:ext cx="3377692" cy="3443097"/>
            </a:xfrm>
            <a:custGeom>
              <a:avLst/>
              <a:gdLst/>
              <a:ahLst/>
              <a:cxnLst/>
              <a:rect r="r" b="b" t="t" l="l"/>
              <a:pathLst>
                <a:path h="3443097" w="3377692">
                  <a:moveTo>
                    <a:pt x="0" y="0"/>
                  </a:moveTo>
                  <a:lnTo>
                    <a:pt x="3377692" y="0"/>
                  </a:lnTo>
                  <a:lnTo>
                    <a:pt x="3377692" y="3443097"/>
                  </a:lnTo>
                  <a:lnTo>
                    <a:pt x="0" y="3443097"/>
                  </a:lnTo>
                  <a:lnTo>
                    <a:pt x="0" y="0"/>
                  </a:lnTo>
                  <a:close/>
                </a:path>
              </a:pathLst>
            </a:custGeom>
            <a:blipFill>
              <a:blip r:embed="rId4"/>
              <a:stretch>
                <a:fillRect l="0" t="-5420" r="0" b="-5420"/>
              </a:stretch>
            </a:blipFill>
          </p:spPr>
        </p:sp>
      </p:grpSp>
      <p:grpSp>
        <p:nvGrpSpPr>
          <p:cNvPr name="Group 22" id="22"/>
          <p:cNvGrpSpPr/>
          <p:nvPr/>
        </p:nvGrpSpPr>
        <p:grpSpPr>
          <a:xfrm rot="0">
            <a:off x="8177061" y="4214308"/>
            <a:ext cx="2385783" cy="2432009"/>
            <a:chOff x="0" y="0"/>
            <a:chExt cx="3377641" cy="3443084"/>
          </a:xfrm>
        </p:grpSpPr>
        <p:sp>
          <p:nvSpPr>
            <p:cNvPr name="Freeform 23" id="23"/>
            <p:cNvSpPr/>
            <p:nvPr/>
          </p:nvSpPr>
          <p:spPr>
            <a:xfrm flipH="false" flipV="false" rot="0">
              <a:off x="0" y="0"/>
              <a:ext cx="3377692" cy="3443097"/>
            </a:xfrm>
            <a:custGeom>
              <a:avLst/>
              <a:gdLst/>
              <a:ahLst/>
              <a:cxnLst/>
              <a:rect r="r" b="b" t="t" l="l"/>
              <a:pathLst>
                <a:path h="3443097" w="3377692">
                  <a:moveTo>
                    <a:pt x="0" y="0"/>
                  </a:moveTo>
                  <a:lnTo>
                    <a:pt x="3377692" y="0"/>
                  </a:lnTo>
                  <a:lnTo>
                    <a:pt x="3377692" y="3443097"/>
                  </a:lnTo>
                  <a:lnTo>
                    <a:pt x="0" y="3443097"/>
                  </a:lnTo>
                  <a:lnTo>
                    <a:pt x="0" y="0"/>
                  </a:lnTo>
                  <a:close/>
                </a:path>
              </a:pathLst>
            </a:custGeom>
            <a:blipFill>
              <a:blip r:embed="rId5"/>
              <a:stretch>
                <a:fillRect l="-968" t="0" r="-968" b="0"/>
              </a:stretch>
            </a:blipFill>
          </p:spPr>
        </p:sp>
      </p:grpSp>
      <p:grpSp>
        <p:nvGrpSpPr>
          <p:cNvPr name="Group 24" id="24"/>
          <p:cNvGrpSpPr/>
          <p:nvPr/>
        </p:nvGrpSpPr>
        <p:grpSpPr>
          <a:xfrm rot="0">
            <a:off x="14993655" y="4064003"/>
            <a:ext cx="2533231" cy="2582313"/>
            <a:chOff x="0" y="0"/>
            <a:chExt cx="3377641" cy="3443084"/>
          </a:xfrm>
        </p:grpSpPr>
        <p:sp>
          <p:nvSpPr>
            <p:cNvPr name="Freeform 25" id="25"/>
            <p:cNvSpPr/>
            <p:nvPr/>
          </p:nvSpPr>
          <p:spPr>
            <a:xfrm flipH="false" flipV="false" rot="0">
              <a:off x="0" y="0"/>
              <a:ext cx="3377692" cy="3443097"/>
            </a:xfrm>
            <a:custGeom>
              <a:avLst/>
              <a:gdLst/>
              <a:ahLst/>
              <a:cxnLst/>
              <a:rect r="r" b="b" t="t" l="l"/>
              <a:pathLst>
                <a:path h="3443097" w="3377692">
                  <a:moveTo>
                    <a:pt x="0" y="0"/>
                  </a:moveTo>
                  <a:lnTo>
                    <a:pt x="3377692" y="0"/>
                  </a:lnTo>
                  <a:lnTo>
                    <a:pt x="3377692" y="3443097"/>
                  </a:lnTo>
                  <a:lnTo>
                    <a:pt x="0" y="3443097"/>
                  </a:lnTo>
                  <a:lnTo>
                    <a:pt x="0" y="0"/>
                  </a:lnTo>
                  <a:close/>
                </a:path>
              </a:pathLst>
            </a:custGeom>
            <a:blipFill>
              <a:blip r:embed="rId6"/>
              <a:stretch>
                <a:fillRect l="-798" t="0" r="-798" b="0"/>
              </a:stretch>
            </a:blipFill>
          </p:spPr>
        </p:sp>
      </p:grpSp>
      <p:sp>
        <p:nvSpPr>
          <p:cNvPr name="TextBox 26" id="26"/>
          <p:cNvSpPr txBox="true"/>
          <p:nvPr/>
        </p:nvSpPr>
        <p:spPr>
          <a:xfrm rot="0">
            <a:off x="12262971" y="6906158"/>
            <a:ext cx="1249412" cy="266700"/>
          </a:xfrm>
          <a:prstGeom prst="rect">
            <a:avLst/>
          </a:prstGeom>
        </p:spPr>
        <p:txBody>
          <a:bodyPr anchor="t" rtlCol="false" tIns="0" lIns="0" bIns="0" rIns="0">
            <a:spAutoFit/>
          </a:bodyPr>
          <a:lstStyle/>
          <a:p>
            <a:pPr algn="ctr">
              <a:lnSpc>
                <a:spcPts val="2099"/>
              </a:lnSpc>
              <a:spcBef>
                <a:spcPct val="0"/>
              </a:spcBef>
            </a:pPr>
            <a:r>
              <a:rPr lang="en-US" b="true" sz="1749">
                <a:solidFill>
                  <a:srgbClr val="000000"/>
                </a:solidFill>
                <a:latin typeface="Trebuchet MS Bold"/>
                <a:ea typeface="Trebuchet MS Bold"/>
                <a:cs typeface="Trebuchet MS Bold"/>
                <a:sym typeface="Trebuchet MS Bold"/>
              </a:rPr>
              <a:t>Nirmesh Pat</a:t>
            </a:r>
          </a:p>
        </p:txBody>
      </p:sp>
      <p:grpSp>
        <p:nvGrpSpPr>
          <p:cNvPr name="Group 27" id="27"/>
          <p:cNvGrpSpPr/>
          <p:nvPr/>
        </p:nvGrpSpPr>
        <p:grpSpPr>
          <a:xfrm rot="0">
            <a:off x="11347771" y="3894277"/>
            <a:ext cx="3165758" cy="4312358"/>
            <a:chOff x="0" y="0"/>
            <a:chExt cx="4221010" cy="5749811"/>
          </a:xfrm>
        </p:grpSpPr>
        <p:sp>
          <p:nvSpPr>
            <p:cNvPr name="Freeform 28" id="28"/>
            <p:cNvSpPr/>
            <p:nvPr/>
          </p:nvSpPr>
          <p:spPr>
            <a:xfrm flipH="false" flipV="false" rot="0">
              <a:off x="0" y="0"/>
              <a:ext cx="4220972" cy="5749798"/>
            </a:xfrm>
            <a:custGeom>
              <a:avLst/>
              <a:gdLst/>
              <a:ahLst/>
              <a:cxnLst/>
              <a:rect r="r" b="b" t="t" l="l"/>
              <a:pathLst>
                <a:path h="5749798" w="4220972">
                  <a:moveTo>
                    <a:pt x="0" y="2110486"/>
                  </a:moveTo>
                  <a:cubicBezTo>
                    <a:pt x="0" y="944880"/>
                    <a:pt x="944880" y="0"/>
                    <a:pt x="2110486" y="0"/>
                  </a:cubicBezTo>
                  <a:cubicBezTo>
                    <a:pt x="3276092" y="0"/>
                    <a:pt x="4220972" y="944880"/>
                    <a:pt x="4220972" y="2110486"/>
                  </a:cubicBezTo>
                  <a:lnTo>
                    <a:pt x="4220972" y="3639312"/>
                  </a:lnTo>
                  <a:cubicBezTo>
                    <a:pt x="4220972" y="4804918"/>
                    <a:pt x="3276092" y="5749798"/>
                    <a:pt x="2110486" y="5749798"/>
                  </a:cubicBezTo>
                  <a:cubicBezTo>
                    <a:pt x="944880" y="5749798"/>
                    <a:pt x="0" y="4804918"/>
                    <a:pt x="0" y="3639312"/>
                  </a:cubicBezTo>
                  <a:close/>
                </a:path>
              </a:pathLst>
            </a:custGeom>
            <a:solidFill>
              <a:srgbClr val="E6E7E8"/>
            </a:solidFill>
          </p:spPr>
        </p:sp>
      </p:grpSp>
      <p:grpSp>
        <p:nvGrpSpPr>
          <p:cNvPr name="Group 29" id="29"/>
          <p:cNvGrpSpPr/>
          <p:nvPr/>
        </p:nvGrpSpPr>
        <p:grpSpPr>
          <a:xfrm rot="0">
            <a:off x="11507762" y="4064003"/>
            <a:ext cx="2646531" cy="2697808"/>
            <a:chOff x="0" y="0"/>
            <a:chExt cx="3377641" cy="3443084"/>
          </a:xfrm>
        </p:grpSpPr>
        <p:sp>
          <p:nvSpPr>
            <p:cNvPr name="Freeform 30" id="30"/>
            <p:cNvSpPr/>
            <p:nvPr/>
          </p:nvSpPr>
          <p:spPr>
            <a:xfrm flipH="false" flipV="false" rot="0">
              <a:off x="0" y="0"/>
              <a:ext cx="3377692" cy="3443097"/>
            </a:xfrm>
            <a:custGeom>
              <a:avLst/>
              <a:gdLst/>
              <a:ahLst/>
              <a:cxnLst/>
              <a:rect r="r" b="b" t="t" l="l"/>
              <a:pathLst>
                <a:path h="3443097" w="3377692">
                  <a:moveTo>
                    <a:pt x="0" y="0"/>
                  </a:moveTo>
                  <a:lnTo>
                    <a:pt x="3377692" y="0"/>
                  </a:lnTo>
                  <a:lnTo>
                    <a:pt x="3377692" y="3443097"/>
                  </a:lnTo>
                  <a:lnTo>
                    <a:pt x="0" y="3443097"/>
                  </a:lnTo>
                  <a:lnTo>
                    <a:pt x="0" y="0"/>
                  </a:lnTo>
                  <a:close/>
                </a:path>
              </a:pathLst>
            </a:custGeom>
            <a:blipFill>
              <a:blip r:embed="rId7"/>
              <a:stretch>
                <a:fillRect l="-17957" t="0" r="-17957" b="0"/>
              </a:stretch>
            </a:blipFill>
          </p:spPr>
        </p:sp>
      </p:grpSp>
      <p:sp>
        <p:nvSpPr>
          <p:cNvPr name="TextBox 31" id="31"/>
          <p:cNvSpPr txBox="true"/>
          <p:nvPr/>
        </p:nvSpPr>
        <p:spPr>
          <a:xfrm rot="0">
            <a:off x="681361" y="9781699"/>
            <a:ext cx="960149" cy="273901"/>
          </a:xfrm>
          <a:prstGeom prst="rect">
            <a:avLst/>
          </a:prstGeom>
        </p:spPr>
        <p:txBody>
          <a:bodyPr anchor="t" rtlCol="false" tIns="0" lIns="0" bIns="0" rIns="0">
            <a:spAutoFit/>
          </a:bodyPr>
          <a:lstStyle/>
          <a:p>
            <a:pPr algn="l">
              <a:lnSpc>
                <a:spcPts val="1620"/>
              </a:lnSpc>
            </a:pPr>
            <a:r>
              <a:rPr lang="en-US" sz="1350">
                <a:solidFill>
                  <a:srgbClr val="595959"/>
                </a:solidFill>
                <a:latin typeface="Trebuchet MS"/>
                <a:ea typeface="Trebuchet MS"/>
                <a:cs typeface="Trebuchet MS"/>
                <a:sym typeface="Trebuchet MS"/>
              </a:rPr>
              <a:t>‹#›</a:t>
            </a:r>
          </a:p>
        </p:txBody>
      </p:sp>
      <p:sp>
        <p:nvSpPr>
          <p:cNvPr name="TextBox 32" id="32"/>
          <p:cNvSpPr txBox="true"/>
          <p:nvPr/>
        </p:nvSpPr>
        <p:spPr>
          <a:xfrm rot="0">
            <a:off x="5261715" y="9851822"/>
            <a:ext cx="7764570" cy="203778"/>
          </a:xfrm>
          <a:prstGeom prst="rect">
            <a:avLst/>
          </a:prstGeom>
        </p:spPr>
        <p:txBody>
          <a:bodyPr anchor="t" rtlCol="false" tIns="0" lIns="0" bIns="0" rIns="0">
            <a:spAutoFit/>
          </a:bodyPr>
          <a:lstStyle/>
          <a:p>
            <a:pPr algn="ctr">
              <a:lnSpc>
                <a:spcPts val="1296"/>
              </a:lnSpc>
            </a:pPr>
            <a:r>
              <a:rPr lang="en-US" sz="1200">
                <a:solidFill>
                  <a:srgbClr val="595959"/>
                </a:solidFill>
                <a:latin typeface="Trebuchet MS"/>
                <a:ea typeface="Trebuchet MS"/>
                <a:cs typeface="Trebuchet MS"/>
                <a:sym typeface="Trebuchet MS"/>
              </a:rPr>
              <a:t> All rights reserved. This document is proprietary and confidential.</a:t>
            </a:r>
          </a:p>
        </p:txBody>
      </p:sp>
      <p:sp>
        <p:nvSpPr>
          <p:cNvPr name="TextBox 33" id="33"/>
          <p:cNvSpPr txBox="true"/>
          <p:nvPr/>
        </p:nvSpPr>
        <p:spPr>
          <a:xfrm rot="0">
            <a:off x="2899362" y="1530306"/>
            <a:ext cx="13589137" cy="1175385"/>
          </a:xfrm>
          <a:prstGeom prst="rect">
            <a:avLst/>
          </a:prstGeom>
        </p:spPr>
        <p:txBody>
          <a:bodyPr anchor="t" rtlCol="false" tIns="0" lIns="0" bIns="0" rIns="0">
            <a:spAutoFit/>
          </a:bodyPr>
          <a:lstStyle/>
          <a:p>
            <a:pPr algn="ctr">
              <a:lnSpc>
                <a:spcPts val="4860"/>
              </a:lnSpc>
            </a:pPr>
            <a:r>
              <a:rPr lang="en-US" b="true" sz="2700">
                <a:solidFill>
                  <a:srgbClr val="595959"/>
                </a:solidFill>
                <a:latin typeface="Trebuchet MS Bold"/>
                <a:ea typeface="Trebuchet MS Bold"/>
                <a:cs typeface="Trebuchet MS Bold"/>
                <a:sym typeface="Trebuchet MS Bold"/>
              </a:rPr>
              <a:t>Zanzibar,Tanzania</a:t>
            </a:r>
            <a:r>
              <a:rPr lang="en-US" b="true" sz="2700">
                <a:solidFill>
                  <a:srgbClr val="595959"/>
                </a:solidFill>
                <a:latin typeface="Trebuchet MS Bold"/>
                <a:ea typeface="Trebuchet MS Bold"/>
                <a:cs typeface="Trebuchet MS Bold"/>
                <a:sym typeface="Trebuchet MS Bold"/>
              </a:rPr>
              <a:t>| VeriVoice</a:t>
            </a:r>
          </a:p>
          <a:p>
            <a:pPr algn="ctr">
              <a:lnSpc>
                <a:spcPts val="4860"/>
              </a:lnSpc>
            </a:pPr>
            <a:r>
              <a:rPr lang="en-US" b="true" sz="2700">
                <a:solidFill>
                  <a:srgbClr val="595959"/>
                </a:solidFill>
                <a:latin typeface="Trebuchet MS Bold"/>
                <a:ea typeface="Trebuchet MS Bold"/>
                <a:cs typeface="Trebuchet MS Bold"/>
                <a:sym typeface="Trebuchet MS Bold"/>
              </a:rPr>
              <a:t>Indian Institute of Technology Madras, Zanzibar Campus</a:t>
            </a:r>
          </a:p>
        </p:txBody>
      </p:sp>
      <p:sp>
        <p:nvSpPr>
          <p:cNvPr name="TextBox 34" id="34"/>
          <p:cNvSpPr txBox="true"/>
          <p:nvPr/>
        </p:nvSpPr>
        <p:spPr>
          <a:xfrm rot="0">
            <a:off x="1350477" y="7001751"/>
            <a:ext cx="2179439" cy="266700"/>
          </a:xfrm>
          <a:prstGeom prst="rect">
            <a:avLst/>
          </a:prstGeom>
        </p:spPr>
        <p:txBody>
          <a:bodyPr anchor="t" rtlCol="false" tIns="0" lIns="0" bIns="0" rIns="0">
            <a:spAutoFit/>
          </a:bodyPr>
          <a:lstStyle/>
          <a:p>
            <a:pPr algn="ctr">
              <a:lnSpc>
                <a:spcPts val="2099"/>
              </a:lnSpc>
              <a:spcBef>
                <a:spcPct val="0"/>
              </a:spcBef>
            </a:pPr>
            <a:r>
              <a:rPr lang="en-US" b="true" sz="1749">
                <a:solidFill>
                  <a:srgbClr val="000000"/>
                </a:solidFill>
                <a:latin typeface="Trebuchet MS Bold"/>
                <a:ea typeface="Trebuchet MS Bold"/>
                <a:cs typeface="Trebuchet MS Bold"/>
                <a:sym typeface="Trebuchet MS Bold"/>
              </a:rPr>
              <a:t>Nidheesh Deepu Nair</a:t>
            </a:r>
          </a:p>
        </p:txBody>
      </p:sp>
      <p:sp>
        <p:nvSpPr>
          <p:cNvPr name="TextBox 35" id="35"/>
          <p:cNvSpPr txBox="true"/>
          <p:nvPr/>
        </p:nvSpPr>
        <p:spPr>
          <a:xfrm rot="0">
            <a:off x="5019396" y="7034746"/>
            <a:ext cx="1589633" cy="266700"/>
          </a:xfrm>
          <a:prstGeom prst="rect">
            <a:avLst/>
          </a:prstGeom>
        </p:spPr>
        <p:txBody>
          <a:bodyPr anchor="t" rtlCol="false" tIns="0" lIns="0" bIns="0" rIns="0">
            <a:spAutoFit/>
          </a:bodyPr>
          <a:lstStyle/>
          <a:p>
            <a:pPr algn="ctr">
              <a:lnSpc>
                <a:spcPts val="2099"/>
              </a:lnSpc>
              <a:spcBef>
                <a:spcPct val="0"/>
              </a:spcBef>
            </a:pPr>
            <a:r>
              <a:rPr lang="en-US" b="true" sz="1749">
                <a:solidFill>
                  <a:srgbClr val="000000"/>
                </a:solidFill>
                <a:latin typeface="Trebuchet MS Bold"/>
                <a:ea typeface="Trebuchet MS Bold"/>
                <a:cs typeface="Trebuchet MS Bold"/>
                <a:sym typeface="Trebuchet MS Bold"/>
              </a:rPr>
              <a:t>Adireddy Tarun</a:t>
            </a:r>
          </a:p>
        </p:txBody>
      </p:sp>
      <p:sp>
        <p:nvSpPr>
          <p:cNvPr name="TextBox 36" id="36"/>
          <p:cNvSpPr txBox="true"/>
          <p:nvPr/>
        </p:nvSpPr>
        <p:spPr>
          <a:xfrm rot="0">
            <a:off x="8410913" y="7001751"/>
            <a:ext cx="1771799" cy="266700"/>
          </a:xfrm>
          <a:prstGeom prst="rect">
            <a:avLst/>
          </a:prstGeom>
        </p:spPr>
        <p:txBody>
          <a:bodyPr anchor="t" rtlCol="false" tIns="0" lIns="0" bIns="0" rIns="0">
            <a:spAutoFit/>
          </a:bodyPr>
          <a:lstStyle/>
          <a:p>
            <a:pPr algn="ctr">
              <a:lnSpc>
                <a:spcPts val="2099"/>
              </a:lnSpc>
              <a:spcBef>
                <a:spcPct val="0"/>
              </a:spcBef>
            </a:pPr>
            <a:r>
              <a:rPr lang="en-US" b="true" sz="1749">
                <a:solidFill>
                  <a:srgbClr val="000000"/>
                </a:solidFill>
                <a:latin typeface="Trebuchet MS Bold"/>
                <a:ea typeface="Trebuchet MS Bold"/>
                <a:cs typeface="Trebuchet MS Bold"/>
                <a:sym typeface="Trebuchet MS Bold"/>
              </a:rPr>
              <a:t>Snigdha Tripurari</a:t>
            </a:r>
          </a:p>
        </p:txBody>
      </p:sp>
      <p:sp>
        <p:nvSpPr>
          <p:cNvPr name="TextBox 37" id="37"/>
          <p:cNvSpPr txBox="true"/>
          <p:nvPr/>
        </p:nvSpPr>
        <p:spPr>
          <a:xfrm rot="0">
            <a:off x="11507018" y="7034746"/>
            <a:ext cx="2543621" cy="266700"/>
          </a:xfrm>
          <a:prstGeom prst="rect">
            <a:avLst/>
          </a:prstGeom>
        </p:spPr>
        <p:txBody>
          <a:bodyPr anchor="t" rtlCol="false" tIns="0" lIns="0" bIns="0" rIns="0">
            <a:spAutoFit/>
          </a:bodyPr>
          <a:lstStyle/>
          <a:p>
            <a:pPr algn="ctr">
              <a:lnSpc>
                <a:spcPts val="2099"/>
              </a:lnSpc>
              <a:spcBef>
                <a:spcPct val="0"/>
              </a:spcBef>
            </a:pPr>
            <a:r>
              <a:rPr lang="en-US" b="true" sz="1749">
                <a:solidFill>
                  <a:srgbClr val="000000"/>
                </a:solidFill>
                <a:latin typeface="Trebuchet MS Bold"/>
                <a:ea typeface="Trebuchet MS Bold"/>
                <a:cs typeface="Trebuchet MS Bold"/>
                <a:sym typeface="Trebuchet MS Bold"/>
              </a:rPr>
              <a:t>Nirmesh Niraj Patalbansi</a:t>
            </a:r>
          </a:p>
        </p:txBody>
      </p:sp>
      <p:sp>
        <p:nvSpPr>
          <p:cNvPr name="TextBox 38" id="38"/>
          <p:cNvSpPr txBox="true"/>
          <p:nvPr/>
        </p:nvSpPr>
        <p:spPr>
          <a:xfrm rot="0">
            <a:off x="15212025" y="7001751"/>
            <a:ext cx="2184053" cy="266700"/>
          </a:xfrm>
          <a:prstGeom prst="rect">
            <a:avLst/>
          </a:prstGeom>
        </p:spPr>
        <p:txBody>
          <a:bodyPr anchor="t" rtlCol="false" tIns="0" lIns="0" bIns="0" rIns="0">
            <a:spAutoFit/>
          </a:bodyPr>
          <a:lstStyle/>
          <a:p>
            <a:pPr algn="ctr">
              <a:lnSpc>
                <a:spcPts val="2099"/>
              </a:lnSpc>
              <a:spcBef>
                <a:spcPct val="0"/>
              </a:spcBef>
            </a:pPr>
            <a:r>
              <a:rPr lang="en-US" b="true" sz="1749">
                <a:solidFill>
                  <a:srgbClr val="000000"/>
                </a:solidFill>
                <a:latin typeface="Trebuchet MS Bold"/>
                <a:ea typeface="Trebuchet MS Bold"/>
                <a:cs typeface="Trebuchet MS Bold"/>
                <a:sym typeface="Trebuchet MS Bold"/>
              </a:rPr>
              <a:t>Anirudha Chowdhury</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140">
            <a:off x="654872" y="9575359"/>
            <a:ext cx="11852405" cy="0"/>
          </a:xfrm>
          <a:prstGeom prst="line">
            <a:avLst/>
          </a:prstGeom>
          <a:ln cap="rnd" w="9525">
            <a:solidFill>
              <a:srgbClr val="284181"/>
            </a:solidFill>
            <a:prstDash val="solid"/>
            <a:headEnd type="none" len="sm" w="sm"/>
            <a:tailEnd type="none" len="sm" w="sm"/>
          </a:ln>
        </p:spPr>
      </p:sp>
      <p:sp>
        <p:nvSpPr>
          <p:cNvPr name="AutoShape 3" id="3"/>
          <p:cNvSpPr/>
          <p:nvPr/>
        </p:nvSpPr>
        <p:spPr>
          <a:xfrm rot="10020">
            <a:off x="12686767" y="9575359"/>
            <a:ext cx="4889106" cy="0"/>
          </a:xfrm>
          <a:prstGeom prst="line">
            <a:avLst/>
          </a:prstGeom>
          <a:ln cap="rnd" w="9525">
            <a:solidFill>
              <a:srgbClr val="00BFDF"/>
            </a:solidFill>
            <a:prstDash val="solid"/>
            <a:headEnd type="none" len="sm" w="sm"/>
            <a:tailEnd type="none" len="sm" w="sm"/>
          </a:ln>
        </p:spPr>
      </p:sp>
      <p:sp>
        <p:nvSpPr>
          <p:cNvPr name="TextBox 4" id="4"/>
          <p:cNvSpPr txBox="true"/>
          <p:nvPr/>
        </p:nvSpPr>
        <p:spPr>
          <a:xfrm rot="0">
            <a:off x="681361" y="9781699"/>
            <a:ext cx="960149" cy="273901"/>
          </a:xfrm>
          <a:prstGeom prst="rect">
            <a:avLst/>
          </a:prstGeom>
        </p:spPr>
        <p:txBody>
          <a:bodyPr anchor="t" rtlCol="false" tIns="0" lIns="0" bIns="0" rIns="0">
            <a:spAutoFit/>
          </a:bodyPr>
          <a:lstStyle/>
          <a:p>
            <a:pPr algn="l">
              <a:lnSpc>
                <a:spcPts val="1620"/>
              </a:lnSpc>
            </a:pPr>
            <a:r>
              <a:rPr lang="en-US" sz="1350">
                <a:solidFill>
                  <a:srgbClr val="595959"/>
                </a:solidFill>
                <a:latin typeface="Trebuchet MS"/>
                <a:ea typeface="Trebuchet MS"/>
                <a:cs typeface="Trebuchet MS"/>
                <a:sym typeface="Trebuchet MS"/>
              </a:rPr>
              <a:t>‹#›</a:t>
            </a:r>
          </a:p>
        </p:txBody>
      </p:sp>
      <p:sp>
        <p:nvSpPr>
          <p:cNvPr name="TextBox 5" id="5"/>
          <p:cNvSpPr txBox="true"/>
          <p:nvPr/>
        </p:nvSpPr>
        <p:spPr>
          <a:xfrm rot="0">
            <a:off x="5261715" y="9851822"/>
            <a:ext cx="7764570" cy="203778"/>
          </a:xfrm>
          <a:prstGeom prst="rect">
            <a:avLst/>
          </a:prstGeom>
        </p:spPr>
        <p:txBody>
          <a:bodyPr anchor="t" rtlCol="false" tIns="0" lIns="0" bIns="0" rIns="0">
            <a:spAutoFit/>
          </a:bodyPr>
          <a:lstStyle/>
          <a:p>
            <a:pPr algn="ctr">
              <a:lnSpc>
                <a:spcPts val="1296"/>
              </a:lnSpc>
            </a:pPr>
            <a:r>
              <a:rPr lang="en-US" sz="1200">
                <a:solidFill>
                  <a:srgbClr val="595959"/>
                </a:solidFill>
                <a:latin typeface="Trebuchet MS"/>
                <a:ea typeface="Trebuchet MS"/>
                <a:cs typeface="Trebuchet MS"/>
                <a:sym typeface="Trebuchet MS"/>
              </a:rPr>
              <a:t> All rights reserved. This document is proprietary and confidential.</a:t>
            </a:r>
          </a:p>
        </p:txBody>
      </p:sp>
      <p:sp>
        <p:nvSpPr>
          <p:cNvPr name="TextBox 6" id="6"/>
          <p:cNvSpPr txBox="true"/>
          <p:nvPr/>
        </p:nvSpPr>
        <p:spPr>
          <a:xfrm rot="0">
            <a:off x="603371" y="373380"/>
            <a:ext cx="14108013" cy="426720"/>
          </a:xfrm>
          <a:prstGeom prst="rect">
            <a:avLst/>
          </a:prstGeom>
        </p:spPr>
        <p:txBody>
          <a:bodyPr anchor="t" rtlCol="false" tIns="0" lIns="0" bIns="0" rIns="0">
            <a:spAutoFit/>
          </a:bodyPr>
          <a:lstStyle/>
          <a:p>
            <a:pPr algn="l">
              <a:lnSpc>
                <a:spcPts val="3240"/>
              </a:lnSpc>
            </a:pPr>
            <a:r>
              <a:rPr lang="en-US" sz="3000" b="true">
                <a:solidFill>
                  <a:srgbClr val="284181"/>
                </a:solidFill>
                <a:latin typeface="Trebuchet MS Bold"/>
                <a:ea typeface="Trebuchet MS Bold"/>
                <a:cs typeface="Trebuchet MS Bold"/>
                <a:sym typeface="Trebuchet MS Bold"/>
              </a:rPr>
              <a:t>Use case introduction: Focus sector and the challenge that digital ID will solve.</a:t>
            </a:r>
          </a:p>
        </p:txBody>
      </p:sp>
      <p:sp>
        <p:nvSpPr>
          <p:cNvPr name="TextBox 7" id="7"/>
          <p:cNvSpPr txBox="true"/>
          <p:nvPr/>
        </p:nvSpPr>
        <p:spPr>
          <a:xfrm rot="0">
            <a:off x="511950" y="908409"/>
            <a:ext cx="17319761" cy="2453869"/>
          </a:xfrm>
          <a:prstGeom prst="rect">
            <a:avLst/>
          </a:prstGeom>
        </p:spPr>
        <p:txBody>
          <a:bodyPr anchor="t" rtlCol="false" tIns="0" lIns="0" bIns="0" rIns="0">
            <a:spAutoFit/>
          </a:bodyPr>
          <a:lstStyle/>
          <a:p>
            <a:pPr algn="just">
              <a:lnSpc>
                <a:spcPts val="3283"/>
              </a:lnSpc>
            </a:pPr>
            <a:r>
              <a:rPr lang="en-US" sz="2400" b="true">
                <a:solidFill>
                  <a:srgbClr val="00BFDF"/>
                </a:solidFill>
                <a:latin typeface="Trebuchet MS Bold"/>
                <a:ea typeface="Trebuchet MS Bold"/>
                <a:cs typeface="Trebuchet MS Bold"/>
                <a:sym typeface="Trebuchet MS Bold"/>
              </a:rPr>
              <a:t>VeriVoice adds a voice authentication layer on top of existing national ID systems — a citizen calls from any keypad phone, speaks a challenge phrase, and a two-stage check (voice biometric match on encrypted templates + speech transcription liveness) verifies their identity against their MOSIP e-Signet-linked national ID, granting access to cash transfers, pension disbursements, and government wallet payments without a smartphone, internet connection, or literacy requirement.</a:t>
            </a:r>
          </a:p>
          <a:p>
            <a:pPr algn="just">
              <a:lnSpc>
                <a:spcPts val="3283"/>
              </a:lnSpc>
            </a:pPr>
          </a:p>
        </p:txBody>
      </p:sp>
      <p:grpSp>
        <p:nvGrpSpPr>
          <p:cNvPr name="Group 8" id="8"/>
          <p:cNvGrpSpPr/>
          <p:nvPr/>
        </p:nvGrpSpPr>
        <p:grpSpPr>
          <a:xfrm rot="0">
            <a:off x="776054" y="3207210"/>
            <a:ext cx="17111682" cy="1266549"/>
            <a:chOff x="0" y="0"/>
            <a:chExt cx="22815575" cy="1688732"/>
          </a:xfrm>
        </p:grpSpPr>
        <p:sp>
          <p:nvSpPr>
            <p:cNvPr name="Freeform 9" id="9"/>
            <p:cNvSpPr/>
            <p:nvPr/>
          </p:nvSpPr>
          <p:spPr>
            <a:xfrm flipH="false" flipV="false" rot="0">
              <a:off x="0" y="0"/>
              <a:ext cx="22815550" cy="1688719"/>
            </a:xfrm>
            <a:custGeom>
              <a:avLst/>
              <a:gdLst/>
              <a:ahLst/>
              <a:cxnLst/>
              <a:rect r="r" b="b" t="t" l="l"/>
              <a:pathLst>
                <a:path h="1688719" w="22815550">
                  <a:moveTo>
                    <a:pt x="0" y="0"/>
                  </a:moveTo>
                  <a:lnTo>
                    <a:pt x="22815550" y="0"/>
                  </a:lnTo>
                  <a:lnTo>
                    <a:pt x="22815550" y="1688719"/>
                  </a:lnTo>
                  <a:lnTo>
                    <a:pt x="0" y="1688719"/>
                  </a:lnTo>
                  <a:close/>
                </a:path>
              </a:pathLst>
            </a:custGeom>
            <a:solidFill>
              <a:srgbClr val="E6E7E8"/>
            </a:solidFill>
          </p:spPr>
        </p:sp>
      </p:grpSp>
      <p:grpSp>
        <p:nvGrpSpPr>
          <p:cNvPr name="Group 10" id="10"/>
          <p:cNvGrpSpPr/>
          <p:nvPr/>
        </p:nvGrpSpPr>
        <p:grpSpPr>
          <a:xfrm rot="-10800000">
            <a:off x="776054" y="3138826"/>
            <a:ext cx="1730912" cy="1634833"/>
            <a:chOff x="0" y="0"/>
            <a:chExt cx="2307882" cy="2179777"/>
          </a:xfrm>
        </p:grpSpPr>
        <p:sp>
          <p:nvSpPr>
            <p:cNvPr name="Freeform 11" id="11"/>
            <p:cNvSpPr/>
            <p:nvPr/>
          </p:nvSpPr>
          <p:spPr>
            <a:xfrm flipH="false" flipV="false" rot="0">
              <a:off x="0" y="0"/>
              <a:ext cx="2307844" cy="2179828"/>
            </a:xfrm>
            <a:custGeom>
              <a:avLst/>
              <a:gdLst/>
              <a:ahLst/>
              <a:cxnLst/>
              <a:rect r="r" b="b" t="t" l="l"/>
              <a:pathLst>
                <a:path h="2179828" w="2307844">
                  <a:moveTo>
                    <a:pt x="2307844" y="2179828"/>
                  </a:moveTo>
                  <a:lnTo>
                    <a:pt x="0" y="2179828"/>
                  </a:lnTo>
                  <a:lnTo>
                    <a:pt x="0" y="274574"/>
                  </a:lnTo>
                  <a:lnTo>
                    <a:pt x="1153922" y="0"/>
                  </a:lnTo>
                  <a:lnTo>
                    <a:pt x="2307844" y="274574"/>
                  </a:lnTo>
                  <a:close/>
                </a:path>
              </a:pathLst>
            </a:custGeom>
            <a:solidFill>
              <a:srgbClr val="284181"/>
            </a:solidFill>
          </p:spPr>
        </p:sp>
      </p:grpSp>
      <p:grpSp>
        <p:nvGrpSpPr>
          <p:cNvPr name="Group 12" id="12"/>
          <p:cNvGrpSpPr/>
          <p:nvPr/>
        </p:nvGrpSpPr>
        <p:grpSpPr>
          <a:xfrm rot="0">
            <a:off x="944923" y="3247634"/>
            <a:ext cx="1393174" cy="1226125"/>
            <a:chOff x="0" y="0"/>
            <a:chExt cx="1857565" cy="1634833"/>
          </a:xfrm>
        </p:grpSpPr>
        <p:sp>
          <p:nvSpPr>
            <p:cNvPr name="Freeform 13" id="13"/>
            <p:cNvSpPr/>
            <p:nvPr/>
          </p:nvSpPr>
          <p:spPr>
            <a:xfrm flipH="false" flipV="false" rot="0">
              <a:off x="0" y="0"/>
              <a:ext cx="1857502" cy="1634744"/>
            </a:xfrm>
            <a:custGeom>
              <a:avLst/>
              <a:gdLst/>
              <a:ahLst/>
              <a:cxnLst/>
              <a:rect r="r" b="b" t="t" l="l"/>
              <a:pathLst>
                <a:path h="1634744" w="1857502">
                  <a:moveTo>
                    <a:pt x="0" y="817372"/>
                  </a:moveTo>
                  <a:cubicBezTo>
                    <a:pt x="0" y="366014"/>
                    <a:pt x="415798" y="0"/>
                    <a:pt x="928751" y="0"/>
                  </a:cubicBezTo>
                  <a:cubicBezTo>
                    <a:pt x="1441704" y="0"/>
                    <a:pt x="1857502" y="366014"/>
                    <a:pt x="1857502" y="817372"/>
                  </a:cubicBezTo>
                  <a:cubicBezTo>
                    <a:pt x="1857502" y="1268730"/>
                    <a:pt x="1441704" y="1634744"/>
                    <a:pt x="928751" y="1634744"/>
                  </a:cubicBezTo>
                  <a:cubicBezTo>
                    <a:pt x="415798" y="1634744"/>
                    <a:pt x="0" y="1268857"/>
                    <a:pt x="0" y="817372"/>
                  </a:cubicBezTo>
                  <a:close/>
                </a:path>
              </a:pathLst>
            </a:custGeom>
            <a:solidFill>
              <a:srgbClr val="FFFFFF"/>
            </a:solidFill>
          </p:spPr>
        </p:sp>
        <p:sp>
          <p:nvSpPr>
            <p:cNvPr name="TextBox 14" id="14"/>
            <p:cNvSpPr txBox="true"/>
            <p:nvPr/>
          </p:nvSpPr>
          <p:spPr>
            <a:xfrm>
              <a:off x="0" y="-9525"/>
              <a:ext cx="1857565" cy="1644358"/>
            </a:xfrm>
            <a:prstGeom prst="rect">
              <a:avLst/>
            </a:prstGeom>
          </p:spPr>
          <p:txBody>
            <a:bodyPr anchor="ctr" rtlCol="false" tIns="50800" lIns="50800" bIns="50800" rIns="50800"/>
            <a:lstStyle/>
            <a:p>
              <a:pPr algn="ctr">
                <a:lnSpc>
                  <a:spcPts val="5040"/>
                </a:lnSpc>
              </a:pPr>
              <a:r>
                <a:rPr lang="en-US" b="true" sz="4200">
                  <a:solidFill>
                    <a:srgbClr val="284181"/>
                  </a:solidFill>
                  <a:latin typeface="Trebuchet MS Bold"/>
                  <a:ea typeface="Trebuchet MS Bold"/>
                  <a:cs typeface="Trebuchet MS Bold"/>
                  <a:sym typeface="Trebuchet MS Bold"/>
                </a:rPr>
                <a:t>01</a:t>
              </a:r>
            </a:p>
          </p:txBody>
        </p:sp>
      </p:grpSp>
      <p:sp>
        <p:nvSpPr>
          <p:cNvPr name="TextBox 15" id="15"/>
          <p:cNvSpPr txBox="true"/>
          <p:nvPr/>
        </p:nvSpPr>
        <p:spPr>
          <a:xfrm rot="0">
            <a:off x="2874797" y="3572194"/>
            <a:ext cx="11190387" cy="384048"/>
          </a:xfrm>
          <a:prstGeom prst="rect">
            <a:avLst/>
          </a:prstGeom>
        </p:spPr>
        <p:txBody>
          <a:bodyPr anchor="t" rtlCol="false" tIns="0" lIns="0" bIns="0" rIns="0">
            <a:spAutoFit/>
          </a:bodyPr>
          <a:lstStyle/>
          <a:p>
            <a:pPr algn="l">
              <a:lnSpc>
                <a:spcPts val="2916"/>
              </a:lnSpc>
            </a:pPr>
            <a:r>
              <a:rPr lang="en-US" b="true" sz="2700" i="true">
                <a:solidFill>
                  <a:srgbClr val="284181"/>
                </a:solidFill>
                <a:latin typeface="Trebuchet MS Bold Italics"/>
                <a:ea typeface="Trebuchet MS Bold Italics"/>
                <a:cs typeface="Trebuchet MS Bold Italics"/>
                <a:sym typeface="Trebuchet MS Bold Italics"/>
              </a:rPr>
              <a:t>What problem are you trying to solve? Who is affected by this issue?</a:t>
            </a:r>
          </a:p>
        </p:txBody>
      </p:sp>
      <p:grpSp>
        <p:nvGrpSpPr>
          <p:cNvPr name="Group 16" id="16"/>
          <p:cNvGrpSpPr/>
          <p:nvPr/>
        </p:nvGrpSpPr>
        <p:grpSpPr>
          <a:xfrm rot="0">
            <a:off x="15381513" y="2686"/>
            <a:ext cx="2913736" cy="522989"/>
            <a:chOff x="0" y="0"/>
            <a:chExt cx="3884981" cy="697319"/>
          </a:xfrm>
        </p:grpSpPr>
        <p:sp>
          <p:nvSpPr>
            <p:cNvPr name="Freeform 17" id="17"/>
            <p:cNvSpPr/>
            <p:nvPr/>
          </p:nvSpPr>
          <p:spPr>
            <a:xfrm flipH="false" flipV="false" rot="0">
              <a:off x="0" y="0"/>
              <a:ext cx="3884930" cy="697357"/>
            </a:xfrm>
            <a:custGeom>
              <a:avLst/>
              <a:gdLst/>
              <a:ahLst/>
              <a:cxnLst/>
              <a:rect r="r" b="b" t="t" l="l"/>
              <a:pathLst>
                <a:path h="697357" w="3884930">
                  <a:moveTo>
                    <a:pt x="0" y="0"/>
                  </a:moveTo>
                  <a:lnTo>
                    <a:pt x="3884930" y="0"/>
                  </a:lnTo>
                  <a:lnTo>
                    <a:pt x="3884930" y="697357"/>
                  </a:lnTo>
                  <a:lnTo>
                    <a:pt x="0" y="697357"/>
                  </a:lnTo>
                  <a:close/>
                </a:path>
              </a:pathLst>
            </a:custGeom>
            <a:solidFill>
              <a:srgbClr val="F79333"/>
            </a:solidFill>
          </p:spPr>
        </p:sp>
        <p:sp>
          <p:nvSpPr>
            <p:cNvPr name="TextBox 18" id="18"/>
            <p:cNvSpPr txBox="true"/>
            <p:nvPr/>
          </p:nvSpPr>
          <p:spPr>
            <a:xfrm>
              <a:off x="0" y="-9525"/>
              <a:ext cx="3884981" cy="706844"/>
            </a:xfrm>
            <a:prstGeom prst="rect">
              <a:avLst/>
            </a:prstGeom>
          </p:spPr>
          <p:txBody>
            <a:bodyPr anchor="ctr" rtlCol="false" tIns="50800" lIns="50800" bIns="50800" rIns="50800"/>
            <a:lstStyle/>
            <a:p>
              <a:pPr algn="ctr">
                <a:lnSpc>
                  <a:spcPts val="3240"/>
                </a:lnSpc>
              </a:pPr>
              <a:r>
                <a:rPr lang="en-US" sz="2700">
                  <a:solidFill>
                    <a:srgbClr val="FFFFFF"/>
                  </a:solidFill>
                  <a:latin typeface="Trebuchet MS"/>
                  <a:ea typeface="Trebuchet MS"/>
                  <a:cs typeface="Trebuchet MS"/>
                  <a:sym typeface="Trebuchet MS"/>
                </a:rPr>
                <a:t>Time: 1 min</a:t>
              </a:r>
            </a:p>
          </p:txBody>
        </p:sp>
      </p:grpSp>
      <p:sp>
        <p:nvSpPr>
          <p:cNvPr name="TextBox 19" id="19"/>
          <p:cNvSpPr txBox="true"/>
          <p:nvPr/>
        </p:nvSpPr>
        <p:spPr>
          <a:xfrm rot="0">
            <a:off x="-154071" y="4945108"/>
            <a:ext cx="18449319" cy="2917698"/>
          </a:xfrm>
          <a:prstGeom prst="rect">
            <a:avLst/>
          </a:prstGeom>
        </p:spPr>
        <p:txBody>
          <a:bodyPr anchor="t" rtlCol="false" tIns="0" lIns="0" bIns="0" rIns="0">
            <a:spAutoFit/>
          </a:bodyPr>
          <a:lstStyle/>
          <a:p>
            <a:pPr algn="l" marL="582930" indent="-291465" lvl="1">
              <a:lnSpc>
                <a:spcPts val="2916"/>
              </a:lnSpc>
              <a:buFont typeface="Arial"/>
              <a:buChar char="•"/>
            </a:pPr>
            <a:r>
              <a:rPr lang="en-US" b="true" sz="2700" i="true">
                <a:solidFill>
                  <a:srgbClr val="284181"/>
                </a:solidFill>
                <a:latin typeface="Trebuchet MS Bold Italics"/>
                <a:ea typeface="Trebuchet MS Bold Italics"/>
                <a:cs typeface="Trebuchet MS Bold Italics"/>
                <a:sym typeface="Trebuchet MS Bold Italics"/>
              </a:rPr>
              <a:t>Claiming social cash transfers (Inua jamii, SAGE), proof of life for aid money(Somaliland) are either offline or smartphone based, due to the lack of an authentication layer.Biometric alternatives (fingerprint readers, facial recognition) are not accessible via a keypad phone, OTPs are defeated by rampant SIM-swap fraud(OTP, PIN gets intercepted), and no accessible authentication option exists for the people who own a basic phone but cannot read a screen or visit a service centre.</a:t>
            </a:r>
          </a:p>
          <a:p>
            <a:pPr algn="l">
              <a:lnSpc>
                <a:spcPts val="2916"/>
              </a:lnSpc>
            </a:pPr>
          </a:p>
          <a:p>
            <a:pPr algn="l" marL="582930" indent="-291465" lvl="1">
              <a:lnSpc>
                <a:spcPts val="2916"/>
              </a:lnSpc>
              <a:buFont typeface="Arial"/>
              <a:buChar char="•"/>
            </a:pPr>
            <a:r>
              <a:rPr lang="en-US" b="true" sz="2700" i="true">
                <a:solidFill>
                  <a:srgbClr val="284181"/>
                </a:solidFill>
                <a:latin typeface="Trebuchet MS Bold Italics"/>
                <a:ea typeface="Trebuchet MS Bold Italics"/>
                <a:cs typeface="Trebuchet MS Bold Italics"/>
                <a:sym typeface="Trebuchet MS Bold Italics"/>
              </a:rPr>
              <a:t>The affected includes - Rural low-literacy citizens,Feature-phone users,Elderly citizens,Refugees and displaced persons,Victims of SIM-swap fraud.</a:t>
            </a:r>
          </a:p>
        </p:txBody>
      </p:sp>
      <p:grpSp>
        <p:nvGrpSpPr>
          <p:cNvPr name="Group 20" id="20"/>
          <p:cNvGrpSpPr/>
          <p:nvPr/>
        </p:nvGrpSpPr>
        <p:grpSpPr>
          <a:xfrm rot="0">
            <a:off x="776054" y="8197396"/>
            <a:ext cx="17111682" cy="1266549"/>
            <a:chOff x="0" y="0"/>
            <a:chExt cx="22815575" cy="1688732"/>
          </a:xfrm>
        </p:grpSpPr>
        <p:sp>
          <p:nvSpPr>
            <p:cNvPr name="Freeform 21" id="21"/>
            <p:cNvSpPr/>
            <p:nvPr/>
          </p:nvSpPr>
          <p:spPr>
            <a:xfrm flipH="false" flipV="false" rot="0">
              <a:off x="0" y="0"/>
              <a:ext cx="22815550" cy="1688719"/>
            </a:xfrm>
            <a:custGeom>
              <a:avLst/>
              <a:gdLst/>
              <a:ahLst/>
              <a:cxnLst/>
              <a:rect r="r" b="b" t="t" l="l"/>
              <a:pathLst>
                <a:path h="1688719" w="22815550">
                  <a:moveTo>
                    <a:pt x="0" y="0"/>
                  </a:moveTo>
                  <a:lnTo>
                    <a:pt x="22815550" y="0"/>
                  </a:lnTo>
                  <a:lnTo>
                    <a:pt x="22815550" y="1688719"/>
                  </a:lnTo>
                  <a:lnTo>
                    <a:pt x="0" y="1688719"/>
                  </a:lnTo>
                  <a:close/>
                </a:path>
              </a:pathLst>
            </a:custGeom>
            <a:solidFill>
              <a:srgbClr val="E6E7E8"/>
            </a:solidFill>
          </p:spPr>
        </p:sp>
      </p:grpSp>
      <p:sp>
        <p:nvSpPr>
          <p:cNvPr name="TextBox 22" id="22"/>
          <p:cNvSpPr txBox="true"/>
          <p:nvPr/>
        </p:nvSpPr>
        <p:spPr>
          <a:xfrm rot="0">
            <a:off x="2874797" y="8648171"/>
            <a:ext cx="7743825" cy="384048"/>
          </a:xfrm>
          <a:prstGeom prst="rect">
            <a:avLst/>
          </a:prstGeom>
        </p:spPr>
        <p:txBody>
          <a:bodyPr anchor="t" rtlCol="false" tIns="0" lIns="0" bIns="0" rIns="0">
            <a:spAutoFit/>
          </a:bodyPr>
          <a:lstStyle/>
          <a:p>
            <a:pPr algn="l">
              <a:lnSpc>
                <a:spcPts val="2916"/>
              </a:lnSpc>
            </a:pPr>
            <a:r>
              <a:rPr lang="en-US" b="true" sz="2700" i="true">
                <a:solidFill>
                  <a:srgbClr val="284181"/>
                </a:solidFill>
                <a:latin typeface="Trebuchet MS Bold Italics"/>
                <a:ea typeface="Trebuchet MS Bold Italics"/>
                <a:cs typeface="Trebuchet MS Bold Italics"/>
                <a:sym typeface="Trebuchet MS Bold Italics"/>
              </a:rPr>
              <a:t>How will your use case idea solve this problem?</a:t>
            </a:r>
          </a:p>
        </p:txBody>
      </p:sp>
      <p:grpSp>
        <p:nvGrpSpPr>
          <p:cNvPr name="Group 23" id="23"/>
          <p:cNvGrpSpPr/>
          <p:nvPr/>
        </p:nvGrpSpPr>
        <p:grpSpPr>
          <a:xfrm rot="-10800000">
            <a:off x="776054" y="8165916"/>
            <a:ext cx="1730912" cy="1634833"/>
            <a:chOff x="0" y="0"/>
            <a:chExt cx="2307882" cy="2179777"/>
          </a:xfrm>
        </p:grpSpPr>
        <p:sp>
          <p:nvSpPr>
            <p:cNvPr name="Freeform 24" id="24"/>
            <p:cNvSpPr/>
            <p:nvPr/>
          </p:nvSpPr>
          <p:spPr>
            <a:xfrm flipH="false" flipV="false" rot="0">
              <a:off x="0" y="0"/>
              <a:ext cx="2307844" cy="2179828"/>
            </a:xfrm>
            <a:custGeom>
              <a:avLst/>
              <a:gdLst/>
              <a:ahLst/>
              <a:cxnLst/>
              <a:rect r="r" b="b" t="t" l="l"/>
              <a:pathLst>
                <a:path h="2179828" w="2307844">
                  <a:moveTo>
                    <a:pt x="2307844" y="2179828"/>
                  </a:moveTo>
                  <a:lnTo>
                    <a:pt x="0" y="2179828"/>
                  </a:lnTo>
                  <a:lnTo>
                    <a:pt x="0" y="274574"/>
                  </a:lnTo>
                  <a:lnTo>
                    <a:pt x="1153922" y="0"/>
                  </a:lnTo>
                  <a:lnTo>
                    <a:pt x="2307844" y="274574"/>
                  </a:lnTo>
                  <a:close/>
                </a:path>
              </a:pathLst>
            </a:custGeom>
            <a:solidFill>
              <a:srgbClr val="00BFDF"/>
            </a:solidFill>
          </p:spPr>
        </p:sp>
      </p:grpSp>
      <p:grpSp>
        <p:nvGrpSpPr>
          <p:cNvPr name="Group 25" id="25"/>
          <p:cNvGrpSpPr/>
          <p:nvPr/>
        </p:nvGrpSpPr>
        <p:grpSpPr>
          <a:xfrm rot="0">
            <a:off x="944923" y="8346860"/>
            <a:ext cx="1393174" cy="1226125"/>
            <a:chOff x="0" y="0"/>
            <a:chExt cx="1857565" cy="1634833"/>
          </a:xfrm>
        </p:grpSpPr>
        <p:sp>
          <p:nvSpPr>
            <p:cNvPr name="Freeform 26" id="26"/>
            <p:cNvSpPr/>
            <p:nvPr/>
          </p:nvSpPr>
          <p:spPr>
            <a:xfrm flipH="false" flipV="false" rot="0">
              <a:off x="0" y="0"/>
              <a:ext cx="1857502" cy="1634744"/>
            </a:xfrm>
            <a:custGeom>
              <a:avLst/>
              <a:gdLst/>
              <a:ahLst/>
              <a:cxnLst/>
              <a:rect r="r" b="b" t="t" l="l"/>
              <a:pathLst>
                <a:path h="1634744" w="1857502">
                  <a:moveTo>
                    <a:pt x="0" y="817372"/>
                  </a:moveTo>
                  <a:cubicBezTo>
                    <a:pt x="0" y="366014"/>
                    <a:pt x="415798" y="0"/>
                    <a:pt x="928751" y="0"/>
                  </a:cubicBezTo>
                  <a:cubicBezTo>
                    <a:pt x="1441704" y="0"/>
                    <a:pt x="1857502" y="366014"/>
                    <a:pt x="1857502" y="817372"/>
                  </a:cubicBezTo>
                  <a:cubicBezTo>
                    <a:pt x="1857502" y="1268730"/>
                    <a:pt x="1441704" y="1634744"/>
                    <a:pt x="928751" y="1634744"/>
                  </a:cubicBezTo>
                  <a:cubicBezTo>
                    <a:pt x="415798" y="1634744"/>
                    <a:pt x="0" y="1268857"/>
                    <a:pt x="0" y="817372"/>
                  </a:cubicBezTo>
                  <a:close/>
                </a:path>
              </a:pathLst>
            </a:custGeom>
            <a:solidFill>
              <a:srgbClr val="FFFFFF"/>
            </a:solidFill>
          </p:spPr>
        </p:sp>
        <p:sp>
          <p:nvSpPr>
            <p:cNvPr name="TextBox 27" id="27"/>
            <p:cNvSpPr txBox="true"/>
            <p:nvPr/>
          </p:nvSpPr>
          <p:spPr>
            <a:xfrm>
              <a:off x="0" y="-9525"/>
              <a:ext cx="1857565" cy="1644358"/>
            </a:xfrm>
            <a:prstGeom prst="rect">
              <a:avLst/>
            </a:prstGeom>
          </p:spPr>
          <p:txBody>
            <a:bodyPr anchor="ctr" rtlCol="false" tIns="50800" lIns="50800" bIns="50800" rIns="50800"/>
            <a:lstStyle/>
            <a:p>
              <a:pPr algn="ctr">
                <a:lnSpc>
                  <a:spcPts val="5040"/>
                </a:lnSpc>
              </a:pPr>
              <a:r>
                <a:rPr lang="en-US" b="true" sz="4200">
                  <a:solidFill>
                    <a:srgbClr val="00BFDF"/>
                  </a:solidFill>
                  <a:latin typeface="Trebuchet MS Bold"/>
                  <a:ea typeface="Trebuchet MS Bold"/>
                  <a:cs typeface="Trebuchet MS Bold"/>
                  <a:sym typeface="Trebuchet MS Bold"/>
                </a:rPr>
                <a:t>02</a:t>
              </a:r>
            </a:p>
          </p:txBody>
        </p:sp>
      </p:gr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45849" y="4342727"/>
            <a:ext cx="17111682" cy="1266549"/>
            <a:chOff x="0" y="0"/>
            <a:chExt cx="22815575" cy="1688732"/>
          </a:xfrm>
        </p:grpSpPr>
        <p:sp>
          <p:nvSpPr>
            <p:cNvPr name="Freeform 3" id="3"/>
            <p:cNvSpPr/>
            <p:nvPr/>
          </p:nvSpPr>
          <p:spPr>
            <a:xfrm flipH="false" flipV="false" rot="0">
              <a:off x="0" y="0"/>
              <a:ext cx="22815550" cy="1688719"/>
            </a:xfrm>
            <a:custGeom>
              <a:avLst/>
              <a:gdLst/>
              <a:ahLst/>
              <a:cxnLst/>
              <a:rect r="r" b="b" t="t" l="l"/>
              <a:pathLst>
                <a:path h="1688719" w="22815550">
                  <a:moveTo>
                    <a:pt x="0" y="0"/>
                  </a:moveTo>
                  <a:lnTo>
                    <a:pt x="22815550" y="0"/>
                  </a:lnTo>
                  <a:lnTo>
                    <a:pt x="22815550" y="1688719"/>
                  </a:lnTo>
                  <a:lnTo>
                    <a:pt x="0" y="1688719"/>
                  </a:lnTo>
                  <a:close/>
                </a:path>
              </a:pathLst>
            </a:custGeom>
            <a:solidFill>
              <a:srgbClr val="E6E7E8"/>
            </a:solidFill>
          </p:spPr>
        </p:sp>
      </p:grpSp>
      <p:grpSp>
        <p:nvGrpSpPr>
          <p:cNvPr name="Group 4" id="4"/>
          <p:cNvGrpSpPr/>
          <p:nvPr/>
        </p:nvGrpSpPr>
        <p:grpSpPr>
          <a:xfrm rot="-10800000">
            <a:off x="545849" y="4326084"/>
            <a:ext cx="1730912" cy="1634833"/>
            <a:chOff x="0" y="0"/>
            <a:chExt cx="2307882" cy="2179777"/>
          </a:xfrm>
        </p:grpSpPr>
        <p:sp>
          <p:nvSpPr>
            <p:cNvPr name="Freeform 5" id="5"/>
            <p:cNvSpPr/>
            <p:nvPr/>
          </p:nvSpPr>
          <p:spPr>
            <a:xfrm flipH="false" flipV="false" rot="0">
              <a:off x="0" y="0"/>
              <a:ext cx="2307844" cy="2179828"/>
            </a:xfrm>
            <a:custGeom>
              <a:avLst/>
              <a:gdLst/>
              <a:ahLst/>
              <a:cxnLst/>
              <a:rect r="r" b="b" t="t" l="l"/>
              <a:pathLst>
                <a:path h="2179828" w="2307844">
                  <a:moveTo>
                    <a:pt x="2307844" y="2179828"/>
                  </a:moveTo>
                  <a:lnTo>
                    <a:pt x="0" y="2179828"/>
                  </a:lnTo>
                  <a:lnTo>
                    <a:pt x="0" y="274574"/>
                  </a:lnTo>
                  <a:lnTo>
                    <a:pt x="1153922" y="0"/>
                  </a:lnTo>
                  <a:lnTo>
                    <a:pt x="2307844" y="274574"/>
                  </a:lnTo>
                  <a:close/>
                </a:path>
              </a:pathLst>
            </a:custGeom>
            <a:solidFill>
              <a:srgbClr val="5A5A5A"/>
            </a:solidFill>
          </p:spPr>
        </p:sp>
      </p:grpSp>
      <p:grpSp>
        <p:nvGrpSpPr>
          <p:cNvPr name="Group 6" id="6"/>
          <p:cNvGrpSpPr/>
          <p:nvPr/>
        </p:nvGrpSpPr>
        <p:grpSpPr>
          <a:xfrm rot="0">
            <a:off x="714718" y="4383151"/>
            <a:ext cx="1393174" cy="1226125"/>
            <a:chOff x="0" y="0"/>
            <a:chExt cx="1857565" cy="1634833"/>
          </a:xfrm>
        </p:grpSpPr>
        <p:sp>
          <p:nvSpPr>
            <p:cNvPr name="Freeform 7" id="7"/>
            <p:cNvSpPr/>
            <p:nvPr/>
          </p:nvSpPr>
          <p:spPr>
            <a:xfrm flipH="false" flipV="false" rot="0">
              <a:off x="0" y="0"/>
              <a:ext cx="1857502" cy="1634744"/>
            </a:xfrm>
            <a:custGeom>
              <a:avLst/>
              <a:gdLst/>
              <a:ahLst/>
              <a:cxnLst/>
              <a:rect r="r" b="b" t="t" l="l"/>
              <a:pathLst>
                <a:path h="1634744" w="1857502">
                  <a:moveTo>
                    <a:pt x="0" y="817372"/>
                  </a:moveTo>
                  <a:cubicBezTo>
                    <a:pt x="0" y="366014"/>
                    <a:pt x="415798" y="0"/>
                    <a:pt x="928751" y="0"/>
                  </a:cubicBezTo>
                  <a:cubicBezTo>
                    <a:pt x="1441704" y="0"/>
                    <a:pt x="1857502" y="366014"/>
                    <a:pt x="1857502" y="817372"/>
                  </a:cubicBezTo>
                  <a:cubicBezTo>
                    <a:pt x="1857502" y="1268730"/>
                    <a:pt x="1441704" y="1634744"/>
                    <a:pt x="928751" y="1634744"/>
                  </a:cubicBezTo>
                  <a:cubicBezTo>
                    <a:pt x="415798" y="1634744"/>
                    <a:pt x="0" y="1268857"/>
                    <a:pt x="0" y="817372"/>
                  </a:cubicBezTo>
                  <a:close/>
                </a:path>
              </a:pathLst>
            </a:custGeom>
            <a:solidFill>
              <a:srgbClr val="FFFFFF"/>
            </a:solidFill>
          </p:spPr>
        </p:sp>
        <p:sp>
          <p:nvSpPr>
            <p:cNvPr name="TextBox 8" id="8"/>
            <p:cNvSpPr txBox="true"/>
            <p:nvPr/>
          </p:nvSpPr>
          <p:spPr>
            <a:xfrm>
              <a:off x="0" y="-9525"/>
              <a:ext cx="1857565" cy="1644358"/>
            </a:xfrm>
            <a:prstGeom prst="rect">
              <a:avLst/>
            </a:prstGeom>
          </p:spPr>
          <p:txBody>
            <a:bodyPr anchor="ctr" rtlCol="false" tIns="50800" lIns="50800" bIns="50800" rIns="50800"/>
            <a:lstStyle/>
            <a:p>
              <a:pPr algn="ctr">
                <a:lnSpc>
                  <a:spcPts val="5040"/>
                </a:lnSpc>
              </a:pPr>
              <a:r>
                <a:rPr lang="en-US" b="true" sz="4200">
                  <a:solidFill>
                    <a:srgbClr val="5A5A5A"/>
                  </a:solidFill>
                  <a:latin typeface="Trebuchet MS Bold"/>
                  <a:ea typeface="Trebuchet MS Bold"/>
                  <a:cs typeface="Trebuchet MS Bold"/>
                  <a:sym typeface="Trebuchet MS Bold"/>
                </a:rPr>
                <a:t>03</a:t>
              </a:r>
            </a:p>
          </p:txBody>
        </p:sp>
      </p:grpSp>
      <p:sp>
        <p:nvSpPr>
          <p:cNvPr name="TextBox 9" id="9"/>
          <p:cNvSpPr txBox="true"/>
          <p:nvPr/>
        </p:nvSpPr>
        <p:spPr>
          <a:xfrm rot="0">
            <a:off x="-161319" y="692688"/>
            <a:ext cx="18449319" cy="2917698"/>
          </a:xfrm>
          <a:prstGeom prst="rect">
            <a:avLst/>
          </a:prstGeom>
        </p:spPr>
        <p:txBody>
          <a:bodyPr anchor="t" rtlCol="false" tIns="0" lIns="0" bIns="0" rIns="0">
            <a:spAutoFit/>
          </a:bodyPr>
          <a:lstStyle/>
          <a:p>
            <a:pPr algn="l" marL="582930" indent="-291465" lvl="1">
              <a:lnSpc>
                <a:spcPts val="2916"/>
              </a:lnSpc>
              <a:buFont typeface="Arial"/>
              <a:buChar char="•"/>
            </a:pPr>
            <a:r>
              <a:rPr lang="en-US" b="true" sz="2700" i="true">
                <a:solidFill>
                  <a:srgbClr val="284181"/>
                </a:solidFill>
                <a:latin typeface="Trebuchet MS Bold Italics"/>
                <a:ea typeface="Trebuchet MS Bold Italics"/>
                <a:cs typeface="Trebuchet MS Bold Italics"/>
                <a:sym typeface="Trebuchet MS Bold Italics"/>
              </a:rPr>
              <a:t>VeriVoice adds a voice authentication layer on top of existing national ID systems (MOSIP esignet) a citizen speaks a challenge phrase over any GSM phone call, a dual-gate check verifies their voice biometric and phrase liveness, then issues a signed consent token to authorise the service. No smartphone, no fingerprint scanner, no OTP, no literacy required.</a:t>
            </a:r>
          </a:p>
          <a:p>
            <a:pPr algn="l">
              <a:lnSpc>
                <a:spcPts val="2916"/>
              </a:lnSpc>
            </a:pPr>
          </a:p>
          <a:p>
            <a:pPr algn="l" marL="582930" indent="-291465" lvl="1">
              <a:lnSpc>
                <a:spcPts val="2916"/>
              </a:lnSpc>
              <a:buFont typeface="Arial"/>
              <a:buChar char="•"/>
            </a:pPr>
            <a:r>
              <a:rPr lang="en-US" b="true" sz="2700" i="true">
                <a:solidFill>
                  <a:srgbClr val="284181"/>
                </a:solidFill>
                <a:latin typeface="Trebuchet MS Bold Italics"/>
                <a:ea typeface="Trebuchet MS Bold Italics"/>
                <a:cs typeface="Trebuchet MS Bold Italics"/>
                <a:sym typeface="Trebuchet MS Bold Italics"/>
              </a:rPr>
              <a:t>Low-literacy and elderly citizens navigate entirely via voice prompts in their language. Feature-phone users authenticate over a regular call. Refugees speak once to prove life and claim aid remotely. SIM-swap victims get a credential that cannot be intercepted. </a:t>
            </a:r>
          </a:p>
        </p:txBody>
      </p:sp>
      <p:sp>
        <p:nvSpPr>
          <p:cNvPr name="TextBox 10" id="10"/>
          <p:cNvSpPr txBox="true"/>
          <p:nvPr/>
        </p:nvSpPr>
        <p:spPr>
          <a:xfrm rot="0">
            <a:off x="2607819" y="4759452"/>
            <a:ext cx="7485311" cy="384048"/>
          </a:xfrm>
          <a:prstGeom prst="rect">
            <a:avLst/>
          </a:prstGeom>
        </p:spPr>
        <p:txBody>
          <a:bodyPr anchor="t" rtlCol="false" tIns="0" lIns="0" bIns="0" rIns="0">
            <a:spAutoFit/>
          </a:bodyPr>
          <a:lstStyle/>
          <a:p>
            <a:pPr algn="l">
              <a:lnSpc>
                <a:spcPts val="2916"/>
              </a:lnSpc>
            </a:pPr>
            <a:r>
              <a:rPr lang="en-US" b="true" sz="2700" i="true">
                <a:solidFill>
                  <a:srgbClr val="284181"/>
                </a:solidFill>
                <a:latin typeface="Trebuchet MS Bold Italics"/>
                <a:ea typeface="Trebuchet MS Bold Italics"/>
                <a:cs typeface="Trebuchet MS Bold Italics"/>
                <a:sym typeface="Trebuchet MS Bold Italics"/>
              </a:rPr>
              <a:t>How is your solution using Digital ID? Describe</a:t>
            </a:r>
          </a:p>
        </p:txBody>
      </p:sp>
      <p:sp>
        <p:nvSpPr>
          <p:cNvPr name="TextBox 11" id="11"/>
          <p:cNvSpPr txBox="true"/>
          <p:nvPr/>
        </p:nvSpPr>
        <p:spPr>
          <a:xfrm rot="0">
            <a:off x="-80660" y="6207113"/>
            <a:ext cx="18449319" cy="4003548"/>
          </a:xfrm>
          <a:prstGeom prst="rect">
            <a:avLst/>
          </a:prstGeom>
        </p:spPr>
        <p:txBody>
          <a:bodyPr anchor="t" rtlCol="false" tIns="0" lIns="0" bIns="0" rIns="0">
            <a:spAutoFit/>
          </a:bodyPr>
          <a:lstStyle/>
          <a:p>
            <a:pPr algn="l" marL="582930" indent="-291465" lvl="1">
              <a:lnSpc>
                <a:spcPts val="2916"/>
              </a:lnSpc>
              <a:buFont typeface="Arial"/>
              <a:buChar char="•"/>
            </a:pPr>
            <a:r>
              <a:rPr lang="en-US" b="true" sz="2700" i="true">
                <a:solidFill>
                  <a:srgbClr val="284181"/>
                </a:solidFill>
                <a:latin typeface="Trebuchet MS Bold Italics"/>
                <a:ea typeface="Trebuchet MS Bold Italics"/>
                <a:cs typeface="Trebuchet MS Bold Italics"/>
                <a:sym typeface="Trebuchet MS Bold Italics"/>
              </a:rPr>
              <a:t>VeriVoice does not create a new identity - it adds a voice interface to the national ID that already exists. During enrolment, a citizen's identity is verified against their national ID through MOSIP e-Signet (fully implemented in the codebase via OIDC, PKCE, and JWT validation) before any voice capture occurs. The resulting encrypted voice template is cryptographically bound to that verified national ID number, not stored as a standalone biometric.</a:t>
            </a:r>
          </a:p>
          <a:p>
            <a:pPr algn="l">
              <a:lnSpc>
                <a:spcPts val="2916"/>
              </a:lnSpc>
            </a:pPr>
          </a:p>
          <a:p>
            <a:pPr algn="l" marL="582930" indent="-291465" lvl="1">
              <a:lnSpc>
                <a:spcPts val="2916"/>
              </a:lnSpc>
              <a:buFont typeface="Arial"/>
              <a:buChar char="•"/>
            </a:pPr>
            <a:r>
              <a:rPr lang="en-US" b="true" sz="2700" i="true">
                <a:solidFill>
                  <a:srgbClr val="284181"/>
                </a:solidFill>
                <a:latin typeface="Trebuchet MS Bold Italics"/>
                <a:ea typeface="Trebuchet MS Bold Italics"/>
                <a:cs typeface="Trebuchet MS Bold Italics"/>
                <a:sym typeface="Trebuchet MS Bold Italics"/>
              </a:rPr>
              <a:t>Every authentication event resolves back to the national ID record. Every consent given generates an Ed25519-signed token carrying the citizen's ID, the ministry, the data scope, and a timestamp — purpose-limited, revocable, and auditable within the national DPI audit trail. Voice is simply the accessible interface through which the citizen exercises rights that are grounded in their Digital ID.</a:t>
            </a:r>
          </a:p>
          <a:p>
            <a:pPr algn="l">
              <a:lnSpc>
                <a:spcPts val="2916"/>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140">
            <a:off x="654872" y="9575359"/>
            <a:ext cx="11852405" cy="0"/>
          </a:xfrm>
          <a:prstGeom prst="line">
            <a:avLst/>
          </a:prstGeom>
          <a:ln cap="rnd" w="9525">
            <a:solidFill>
              <a:srgbClr val="284181"/>
            </a:solidFill>
            <a:prstDash val="solid"/>
            <a:headEnd type="none" len="sm" w="sm"/>
            <a:tailEnd type="none" len="sm" w="sm"/>
          </a:ln>
        </p:spPr>
      </p:sp>
      <p:sp>
        <p:nvSpPr>
          <p:cNvPr name="AutoShape 3" id="3"/>
          <p:cNvSpPr/>
          <p:nvPr/>
        </p:nvSpPr>
        <p:spPr>
          <a:xfrm rot="10020">
            <a:off x="12686767" y="9575359"/>
            <a:ext cx="4889106" cy="0"/>
          </a:xfrm>
          <a:prstGeom prst="line">
            <a:avLst/>
          </a:prstGeom>
          <a:ln cap="rnd" w="9525">
            <a:solidFill>
              <a:srgbClr val="00BFDF"/>
            </a:solidFill>
            <a:prstDash val="solid"/>
            <a:headEnd type="none" len="sm" w="sm"/>
            <a:tailEnd type="none" len="sm" w="sm"/>
          </a:ln>
        </p:spPr>
      </p:sp>
      <p:sp>
        <p:nvSpPr>
          <p:cNvPr name="TextBox 4" id="4"/>
          <p:cNvSpPr txBox="true"/>
          <p:nvPr/>
        </p:nvSpPr>
        <p:spPr>
          <a:xfrm rot="0">
            <a:off x="681361" y="9781699"/>
            <a:ext cx="960149" cy="273901"/>
          </a:xfrm>
          <a:prstGeom prst="rect">
            <a:avLst/>
          </a:prstGeom>
        </p:spPr>
        <p:txBody>
          <a:bodyPr anchor="t" rtlCol="false" tIns="0" lIns="0" bIns="0" rIns="0">
            <a:spAutoFit/>
          </a:bodyPr>
          <a:lstStyle/>
          <a:p>
            <a:pPr algn="l">
              <a:lnSpc>
                <a:spcPts val="1620"/>
              </a:lnSpc>
            </a:pPr>
            <a:r>
              <a:rPr lang="en-US" sz="1350">
                <a:solidFill>
                  <a:srgbClr val="595959"/>
                </a:solidFill>
                <a:latin typeface="Trebuchet MS"/>
                <a:ea typeface="Trebuchet MS"/>
                <a:cs typeface="Trebuchet MS"/>
                <a:sym typeface="Trebuchet MS"/>
              </a:rPr>
              <a:t>‹#›</a:t>
            </a:r>
          </a:p>
        </p:txBody>
      </p:sp>
      <p:sp>
        <p:nvSpPr>
          <p:cNvPr name="TextBox 5" id="5"/>
          <p:cNvSpPr txBox="true"/>
          <p:nvPr/>
        </p:nvSpPr>
        <p:spPr>
          <a:xfrm rot="0">
            <a:off x="5261715" y="9851822"/>
            <a:ext cx="7764570" cy="203778"/>
          </a:xfrm>
          <a:prstGeom prst="rect">
            <a:avLst/>
          </a:prstGeom>
        </p:spPr>
        <p:txBody>
          <a:bodyPr anchor="t" rtlCol="false" tIns="0" lIns="0" bIns="0" rIns="0">
            <a:spAutoFit/>
          </a:bodyPr>
          <a:lstStyle/>
          <a:p>
            <a:pPr algn="ctr">
              <a:lnSpc>
                <a:spcPts val="1296"/>
              </a:lnSpc>
            </a:pPr>
            <a:r>
              <a:rPr lang="en-US" sz="1200">
                <a:solidFill>
                  <a:srgbClr val="595959"/>
                </a:solidFill>
                <a:latin typeface="Trebuchet MS"/>
                <a:ea typeface="Trebuchet MS"/>
                <a:cs typeface="Trebuchet MS"/>
                <a:sym typeface="Trebuchet MS"/>
              </a:rPr>
              <a:t> All rights reserved. This document is proprietary and confidential.</a:t>
            </a:r>
          </a:p>
        </p:txBody>
      </p:sp>
      <p:sp>
        <p:nvSpPr>
          <p:cNvPr name="TextBox 6" id="6"/>
          <p:cNvSpPr txBox="true"/>
          <p:nvPr/>
        </p:nvSpPr>
        <p:spPr>
          <a:xfrm rot="0">
            <a:off x="603371" y="373380"/>
            <a:ext cx="16928840" cy="433959"/>
          </a:xfrm>
          <a:prstGeom prst="rect">
            <a:avLst/>
          </a:prstGeom>
        </p:spPr>
        <p:txBody>
          <a:bodyPr anchor="t" rtlCol="false" tIns="0" lIns="0" bIns="0" rIns="0">
            <a:spAutoFit/>
          </a:bodyPr>
          <a:lstStyle/>
          <a:p>
            <a:pPr algn="l">
              <a:lnSpc>
                <a:spcPts val="3240"/>
              </a:lnSpc>
            </a:pPr>
            <a:r>
              <a:rPr lang="en-US" sz="3000" b="true">
                <a:solidFill>
                  <a:srgbClr val="284181"/>
                </a:solidFill>
                <a:latin typeface="Trebuchet MS Bold"/>
                <a:ea typeface="Trebuchet MS Bold"/>
                <a:cs typeface="Trebuchet MS Bold"/>
                <a:sym typeface="Trebuchet MS Bold"/>
              </a:rPr>
              <a:t>Problem statement: Provide a short description of the problem</a:t>
            </a:r>
          </a:p>
        </p:txBody>
      </p:sp>
      <p:sp>
        <p:nvSpPr>
          <p:cNvPr name="TextBox 7" id="7"/>
          <p:cNvSpPr txBox="true"/>
          <p:nvPr/>
        </p:nvSpPr>
        <p:spPr>
          <a:xfrm rot="0">
            <a:off x="273250" y="1133634"/>
            <a:ext cx="16986050" cy="8597494"/>
          </a:xfrm>
          <a:prstGeom prst="rect">
            <a:avLst/>
          </a:prstGeom>
        </p:spPr>
        <p:txBody>
          <a:bodyPr anchor="t" rtlCol="false" tIns="0" lIns="0" bIns="0" rIns="0">
            <a:spAutoFit/>
          </a:bodyPr>
          <a:lstStyle/>
          <a:p>
            <a:pPr algn="l">
              <a:lnSpc>
                <a:spcPts val="3283"/>
              </a:lnSpc>
            </a:pPr>
            <a:r>
              <a:rPr lang="en-US" sz="2400" b="true">
                <a:solidFill>
                  <a:srgbClr val="00BFDF"/>
                </a:solidFill>
                <a:latin typeface="Trebuchet MS Bold"/>
                <a:ea typeface="Trebuchet MS Bold"/>
                <a:cs typeface="Trebuchet MS Bold"/>
                <a:sym typeface="Trebuchet MS Bold"/>
              </a:rPr>
              <a:t>The problem spans the social protection, digital finance, and humanitarian aid sectors across East Africa - affecting  rural, low-literacy, and feature-phone-dependent citizens who are systematically locked out of government services by authentication systems that assume smartphone access and digital literacy they do not have</a:t>
            </a:r>
            <a:r>
              <a:rPr lang="en-US" sz="2400" b="true">
                <a:solidFill>
                  <a:srgbClr val="00BFDF"/>
                </a:solidFill>
                <a:latin typeface="Trebuchet MS Bold"/>
                <a:ea typeface="Trebuchet MS Bold"/>
                <a:cs typeface="Trebuchet MS Bold"/>
                <a:sym typeface="Trebuchet MS Bold"/>
              </a:rPr>
              <a:t>. </a:t>
            </a:r>
          </a:p>
          <a:p>
            <a:pPr algn="l">
              <a:lnSpc>
                <a:spcPts val="3283"/>
              </a:lnSpc>
            </a:pPr>
          </a:p>
          <a:p>
            <a:pPr algn="l" marL="518160" indent="-259080" lvl="1">
              <a:lnSpc>
                <a:spcPts val="3283"/>
              </a:lnSpc>
              <a:buFont typeface="Arial"/>
              <a:buChar char="•"/>
            </a:pPr>
            <a:r>
              <a:rPr lang="en-US" b="true" sz="2400">
                <a:solidFill>
                  <a:srgbClr val="00BFDF"/>
                </a:solidFill>
                <a:latin typeface="Trebuchet MS Bold"/>
                <a:ea typeface="Trebuchet MS Bold"/>
                <a:cs typeface="Trebuchet MS Bold"/>
                <a:sym typeface="Trebuchet MS Bold"/>
              </a:rPr>
              <a:t>In Kenya's rural areas, only 21.7% of women and 28.3% of men used the internet in 2024, compared to 54.8% in urban areas - and 0% of those with no formal education used the internet at all. </a:t>
            </a:r>
          </a:p>
          <a:p>
            <a:pPr algn="l">
              <a:lnSpc>
                <a:spcPts val="3283"/>
              </a:lnSpc>
            </a:pPr>
          </a:p>
          <a:p>
            <a:pPr algn="l" marL="518160" indent="-259080" lvl="1">
              <a:lnSpc>
                <a:spcPts val="3283"/>
              </a:lnSpc>
              <a:buFont typeface="Arial"/>
              <a:buChar char="•"/>
            </a:pPr>
            <a:r>
              <a:rPr lang="en-US" b="true" sz="2400">
                <a:solidFill>
                  <a:srgbClr val="00BFDF"/>
                </a:solidFill>
                <a:latin typeface="Trebuchet MS Bold"/>
                <a:ea typeface="Trebuchet MS Bold"/>
                <a:cs typeface="Trebuchet MS Bold"/>
                <a:sym typeface="Trebuchet MS Bold"/>
              </a:rPr>
              <a:t>Kenya lost Ksh810 million to mobile banking fraud in 2024  a 344% increase : driven by SIM-swap schemes, with 9.8% of mobile money users experiencing direct financial loss and 123,000 fraudulent SIM cards used to steal Sh500 million.</a:t>
            </a:r>
          </a:p>
          <a:p>
            <a:pPr algn="l">
              <a:lnSpc>
                <a:spcPts val="3283"/>
              </a:lnSpc>
            </a:pPr>
          </a:p>
          <a:p>
            <a:pPr algn="l" marL="518160" indent="-259080" lvl="1">
              <a:lnSpc>
                <a:spcPts val="3283"/>
              </a:lnSpc>
              <a:buFont typeface="Arial"/>
              <a:buChar char="•"/>
            </a:pPr>
            <a:r>
              <a:rPr lang="en-US" b="true" sz="2400">
                <a:solidFill>
                  <a:srgbClr val="00BFDF"/>
                </a:solidFill>
                <a:latin typeface="Trebuchet MS Bold"/>
                <a:ea typeface="Trebuchet MS Bold"/>
                <a:cs typeface="Trebuchet MS Bold"/>
                <a:sym typeface="Trebuchet MS Bold"/>
              </a:rPr>
              <a:t>The GSMA Voice ID pilot verified 216,780 people with over USD $5M disbursed in Somaliland alone </a:t>
            </a:r>
            <a:r>
              <a:rPr lang="en-US" b="true" sz="2400" u="sng">
                <a:solidFill>
                  <a:srgbClr val="00BFDF"/>
                </a:solidFill>
                <a:latin typeface="Trebuchet MS Bold"/>
                <a:ea typeface="Trebuchet MS Bold"/>
                <a:cs typeface="Trebuchet MS Bold"/>
                <a:sym typeface="Trebuchet MS Bold"/>
                <a:hlinkClick r:id="rId3" tooltip="https://www.gsma.com/mobilefordevelopment/programme/mobile-for-humanitarian-innovation/verifying-recipients-of-cash-assistance-through-voice-id-pilot-project-lessons-and-outcomes/"/>
              </a:rPr>
              <a:t>GSMA</a:t>
            </a:r>
            <a:r>
              <a:rPr lang="en-US" b="true" sz="2400">
                <a:solidFill>
                  <a:srgbClr val="00BFDF"/>
                </a:solidFill>
                <a:latin typeface="Trebuchet MS Bold"/>
                <a:ea typeface="Trebuchet MS Bold"/>
                <a:cs typeface="Trebuchet MS Bold"/>
                <a:sym typeface="Trebuchet MS Bold"/>
              </a:rPr>
              <a:t> — proving the model works at scale in East Africa, while also proving no open, privacy-preserving, nationally-anchored version existed. </a:t>
            </a:r>
          </a:p>
          <a:p>
            <a:pPr algn="l">
              <a:lnSpc>
                <a:spcPts val="3283"/>
              </a:lnSpc>
            </a:pPr>
          </a:p>
          <a:p>
            <a:pPr algn="l" marL="518160" indent="-259080" lvl="1">
              <a:lnSpc>
                <a:spcPts val="3283"/>
              </a:lnSpc>
              <a:buFont typeface="Arial"/>
              <a:buChar char="•"/>
            </a:pPr>
            <a:r>
              <a:rPr lang="en-US" b="true" sz="2400">
                <a:solidFill>
                  <a:srgbClr val="00BFDF"/>
                </a:solidFill>
                <a:latin typeface="Trebuchet MS Bold"/>
                <a:ea typeface="Trebuchet MS Bold"/>
                <a:cs typeface="Trebuchet MS Bold"/>
                <a:sym typeface="Trebuchet MS Bold"/>
              </a:rPr>
              <a:t>Uganda alone hosts approximately 1.8 million refugees and asylum-seekers - the largest refugee population in Africa - with the majority from South Sudan and DRC.</a:t>
            </a:r>
          </a:p>
          <a:p>
            <a:pPr algn="l">
              <a:lnSpc>
                <a:spcPts val="3283"/>
              </a:lnSpc>
            </a:pPr>
          </a:p>
          <a:p>
            <a:pPr algn="l">
              <a:lnSpc>
                <a:spcPts val="3283"/>
              </a:lnSpc>
            </a:pPr>
          </a:p>
          <a:p>
            <a:pPr algn="l">
              <a:lnSpc>
                <a:spcPts val="3283"/>
              </a:lnSpc>
            </a:pPr>
          </a:p>
          <a:p>
            <a:pPr algn="l">
              <a:lnSpc>
                <a:spcPts val="3283"/>
              </a:lnSpc>
            </a:pPr>
          </a:p>
        </p:txBody>
      </p:sp>
      <p:grpSp>
        <p:nvGrpSpPr>
          <p:cNvPr name="Group 8" id="8"/>
          <p:cNvGrpSpPr/>
          <p:nvPr/>
        </p:nvGrpSpPr>
        <p:grpSpPr>
          <a:xfrm rot="0">
            <a:off x="15381513" y="2686"/>
            <a:ext cx="2913736" cy="522989"/>
            <a:chOff x="0" y="0"/>
            <a:chExt cx="3884981" cy="697319"/>
          </a:xfrm>
        </p:grpSpPr>
        <p:sp>
          <p:nvSpPr>
            <p:cNvPr name="Freeform 9" id="9"/>
            <p:cNvSpPr/>
            <p:nvPr/>
          </p:nvSpPr>
          <p:spPr>
            <a:xfrm flipH="false" flipV="false" rot="0">
              <a:off x="0" y="0"/>
              <a:ext cx="3884930" cy="697357"/>
            </a:xfrm>
            <a:custGeom>
              <a:avLst/>
              <a:gdLst/>
              <a:ahLst/>
              <a:cxnLst/>
              <a:rect r="r" b="b" t="t" l="l"/>
              <a:pathLst>
                <a:path h="697357" w="3884930">
                  <a:moveTo>
                    <a:pt x="0" y="0"/>
                  </a:moveTo>
                  <a:lnTo>
                    <a:pt x="3884930" y="0"/>
                  </a:lnTo>
                  <a:lnTo>
                    <a:pt x="3884930" y="697357"/>
                  </a:lnTo>
                  <a:lnTo>
                    <a:pt x="0" y="697357"/>
                  </a:lnTo>
                  <a:close/>
                </a:path>
              </a:pathLst>
            </a:custGeom>
            <a:solidFill>
              <a:srgbClr val="F79333"/>
            </a:solidFill>
          </p:spPr>
        </p:sp>
        <p:sp>
          <p:nvSpPr>
            <p:cNvPr name="TextBox 10" id="10"/>
            <p:cNvSpPr txBox="true"/>
            <p:nvPr/>
          </p:nvSpPr>
          <p:spPr>
            <a:xfrm>
              <a:off x="0" y="-9525"/>
              <a:ext cx="3884981" cy="706844"/>
            </a:xfrm>
            <a:prstGeom prst="rect">
              <a:avLst/>
            </a:prstGeom>
          </p:spPr>
          <p:txBody>
            <a:bodyPr anchor="ctr" rtlCol="false" tIns="50800" lIns="50800" bIns="50800" rIns="50800"/>
            <a:lstStyle/>
            <a:p>
              <a:pPr algn="ctr">
                <a:lnSpc>
                  <a:spcPts val="3240"/>
                </a:lnSpc>
              </a:pPr>
              <a:r>
                <a:rPr lang="en-US" sz="2700">
                  <a:solidFill>
                    <a:srgbClr val="FFFFFF"/>
                  </a:solidFill>
                  <a:latin typeface="Trebuchet MS"/>
                  <a:ea typeface="Trebuchet MS"/>
                  <a:cs typeface="Trebuchet MS"/>
                  <a:sym typeface="Trebuchet MS"/>
                </a:rPr>
                <a:t>Time: 1 min</a:t>
              </a:r>
            </a:p>
          </p:txBody>
        </p:sp>
      </p:gr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23041" y="393718"/>
            <a:ext cx="17126958" cy="11144250"/>
          </a:xfrm>
          <a:prstGeom prst="rect">
            <a:avLst/>
          </a:prstGeom>
        </p:spPr>
        <p:txBody>
          <a:bodyPr anchor="t" rtlCol="false" tIns="0" lIns="0" bIns="0" rIns="0">
            <a:spAutoFit/>
          </a:bodyPr>
          <a:lstStyle/>
          <a:p>
            <a:pPr algn="l" marL="428045" indent="-214022" lvl="1">
              <a:lnSpc>
                <a:spcPts val="2838"/>
              </a:lnSpc>
              <a:buAutoNum type="arabicPeriod" startAt="1"/>
            </a:pPr>
            <a:r>
              <a:rPr lang="en-US" b="true" sz="2365">
                <a:solidFill>
                  <a:srgbClr val="284181"/>
                </a:solidFill>
                <a:latin typeface="Trebuchet MS Bold"/>
                <a:ea typeface="Trebuchet MS Bold"/>
                <a:cs typeface="Trebuchet MS Bold"/>
                <a:sym typeface="Trebuchet MS Bold"/>
              </a:rPr>
              <a:t>What is the current process for accessing benefits, completing transactions, or engaging with systems?</a:t>
            </a:r>
          </a:p>
          <a:p>
            <a:pPr algn="l" marL="476607" indent="-238303" lvl="1">
              <a:lnSpc>
                <a:spcPts val="2649"/>
              </a:lnSpc>
              <a:buFont typeface="Arial"/>
              <a:buChar char="•"/>
            </a:pPr>
            <a:r>
              <a:rPr lang="en-US" sz="2207">
                <a:solidFill>
                  <a:srgbClr val="000000"/>
                </a:solidFill>
                <a:latin typeface="Trebuchet MS"/>
                <a:ea typeface="Trebuchet MS"/>
                <a:cs typeface="Trebuchet MS"/>
                <a:sym typeface="Trebuchet MS"/>
              </a:rPr>
              <a:t>Kenya's eCitizen app requires a facial scan for payment authorisation and wallet transfers - inaccessible without a smartphone.</a:t>
            </a:r>
          </a:p>
          <a:p>
            <a:pPr algn="l" marL="476607" indent="-238303" lvl="1">
              <a:lnSpc>
                <a:spcPts val="2649"/>
              </a:lnSpc>
              <a:buFont typeface="Arial"/>
              <a:buChar char="•"/>
            </a:pPr>
            <a:r>
              <a:rPr lang="en-US" sz="2207">
                <a:solidFill>
                  <a:srgbClr val="000000"/>
                </a:solidFill>
                <a:latin typeface="Trebuchet MS"/>
                <a:ea typeface="Trebuchet MS"/>
                <a:cs typeface="Trebuchet MS"/>
                <a:sym typeface="Trebuchet MS"/>
              </a:rPr>
              <a:t>Inua Jamii and SAGE beneficiaries must physically visit M-PESA agents or government pay points with their original ID for every disbursement cycle.</a:t>
            </a:r>
          </a:p>
          <a:p>
            <a:pPr algn="l" marL="476607" indent="-238303" lvl="1">
              <a:lnSpc>
                <a:spcPts val="2649"/>
              </a:lnSpc>
              <a:buFont typeface="Arial"/>
              <a:buChar char="•"/>
            </a:pPr>
            <a:r>
              <a:rPr lang="en-US" sz="2207">
                <a:solidFill>
                  <a:srgbClr val="000000"/>
                </a:solidFill>
                <a:latin typeface="Trebuchet MS"/>
                <a:ea typeface="Trebuchet MS"/>
                <a:cs typeface="Trebuchet MS"/>
                <a:sym typeface="Trebuchet MS"/>
              </a:rPr>
              <a:t>Uganda's SAGE pension verification relies entirely on plug-in fingerprint scanners and manual paper registers operated by field agents. </a:t>
            </a:r>
          </a:p>
          <a:p>
            <a:pPr algn="l" marL="476607" indent="-238303" lvl="1">
              <a:lnSpc>
                <a:spcPts val="2649"/>
              </a:lnSpc>
              <a:buFont typeface="Arial"/>
              <a:buChar char="•"/>
            </a:pPr>
            <a:r>
              <a:rPr lang="en-US" sz="2207">
                <a:solidFill>
                  <a:srgbClr val="000000"/>
                </a:solidFill>
                <a:latin typeface="Trebuchet MS"/>
                <a:ea typeface="Trebuchet MS"/>
                <a:cs typeface="Trebuchet MS"/>
                <a:sym typeface="Trebuchet MS"/>
              </a:rPr>
              <a:t>Humanitarian aid organisations like CARE travel hundreds of kilometres per disbursement cycle to verify recipients by thumbprint or signature. </a:t>
            </a:r>
          </a:p>
          <a:p>
            <a:pPr algn="l" marL="476607" indent="-238303" lvl="1">
              <a:lnSpc>
                <a:spcPts val="2649"/>
              </a:lnSpc>
              <a:buFont typeface="Arial"/>
              <a:buChar char="•"/>
            </a:pPr>
            <a:r>
              <a:rPr lang="en-US" sz="2207">
                <a:solidFill>
                  <a:srgbClr val="000000"/>
                </a:solidFill>
                <a:latin typeface="Trebuchet MS"/>
                <a:ea typeface="Trebuchet MS"/>
                <a:cs typeface="Trebuchet MS"/>
                <a:sym typeface="Trebuchet MS"/>
              </a:rPr>
              <a:t>Mobile money PIN resets and SIM replacements require in-person visits or OTP-based verification over SMS( both defeated by SIM-swap attacks).</a:t>
            </a:r>
          </a:p>
          <a:p>
            <a:pPr algn="l">
              <a:lnSpc>
                <a:spcPts val="2649"/>
              </a:lnSpc>
            </a:pPr>
          </a:p>
          <a:p>
            <a:pPr algn="l">
              <a:lnSpc>
                <a:spcPts val="2838"/>
              </a:lnSpc>
            </a:pPr>
            <a:r>
              <a:rPr lang="en-US" sz="2365" i="true">
                <a:solidFill>
                  <a:srgbClr val="000000"/>
                </a:solidFill>
                <a:latin typeface="Trebuchet MS Italics"/>
                <a:ea typeface="Trebuchet MS Italics"/>
                <a:cs typeface="Trebuchet MS Italics"/>
                <a:sym typeface="Trebuchet MS Italics"/>
              </a:rPr>
              <a:t>2.</a:t>
            </a:r>
            <a:r>
              <a:rPr lang="en-US" sz="2365" b="true">
                <a:solidFill>
                  <a:srgbClr val="284181"/>
                </a:solidFill>
                <a:latin typeface="Trebuchet MS Bold"/>
                <a:ea typeface="Trebuchet MS Bold"/>
                <a:cs typeface="Trebuchet MS Bold"/>
                <a:sym typeface="Trebuchet MS Bold"/>
              </a:rPr>
              <a:t>What barriers do citizens or businesses face in this process, and who is most affected?</a:t>
            </a:r>
          </a:p>
          <a:p>
            <a:pPr algn="l" marL="476607" indent="-238303" lvl="1">
              <a:lnSpc>
                <a:spcPts val="2649"/>
              </a:lnSpc>
              <a:buFont typeface="Arial"/>
              <a:buChar char="•"/>
            </a:pPr>
            <a:r>
              <a:rPr lang="en-US" sz="2207" spc="-61">
                <a:solidFill>
                  <a:srgbClr val="000000"/>
                </a:solidFill>
                <a:latin typeface="Trebuchet MS"/>
                <a:ea typeface="Trebuchet MS"/>
                <a:cs typeface="Trebuchet MS"/>
                <a:sym typeface="Trebuchet MS"/>
              </a:rPr>
              <a:t>Rural low-literacy citizens (rural Kenya, Uganda, Tanzania, bottom income quintile, no formal education) :Cannot navigate text-heavy USSD menus or ecitizen app.</a:t>
            </a:r>
          </a:p>
          <a:p>
            <a:pPr algn="l" marL="476607" indent="-238303" lvl="1">
              <a:lnSpc>
                <a:spcPts val="2649"/>
              </a:lnSpc>
              <a:buFont typeface="Arial"/>
              <a:buChar char="•"/>
            </a:pPr>
            <a:r>
              <a:rPr lang="en-US" sz="2207" spc="-61">
                <a:solidFill>
                  <a:srgbClr val="000000"/>
                </a:solidFill>
                <a:latin typeface="Trebuchet MS"/>
                <a:ea typeface="Trebuchet MS"/>
                <a:cs typeface="Trebuchet MS"/>
                <a:sym typeface="Trebuchet MS"/>
              </a:rPr>
              <a:t>Feature-phone users (70% of East Africa, predominantly rural and peri-urban, low-income) : Entirely excluded from eCitizen payment authorisation and wallet transfers, which require a facial scan.</a:t>
            </a:r>
          </a:p>
          <a:p>
            <a:pPr algn="l" marL="476607" indent="-238303" lvl="1">
              <a:lnSpc>
                <a:spcPts val="2649"/>
              </a:lnSpc>
              <a:buFont typeface="Arial"/>
              <a:buChar char="•"/>
            </a:pPr>
            <a:r>
              <a:rPr lang="en-US" sz="2207" spc="-61">
                <a:solidFill>
                  <a:srgbClr val="000000"/>
                </a:solidFill>
                <a:latin typeface="Trebuchet MS"/>
                <a:ea typeface="Trebuchet MS"/>
                <a:cs typeface="Trebuchet MS"/>
                <a:sym typeface="Trebuchet MS"/>
              </a:rPr>
              <a:t>Elderly SAGE and Inua Jamii beneficiaries (65+ years, rural Uganda and Kenya, subsistence-level income) : Long physical travel to pay points every disbursement cycle with original ID;  worn fingerprints routinely fail biometric scanners.</a:t>
            </a:r>
          </a:p>
          <a:p>
            <a:pPr algn="l" marL="476607" indent="-238303" lvl="1">
              <a:lnSpc>
                <a:spcPts val="2649"/>
              </a:lnSpc>
              <a:buFont typeface="Arial"/>
              <a:buChar char="•"/>
            </a:pPr>
            <a:r>
              <a:rPr lang="en-US" sz="2207" spc="-61">
                <a:solidFill>
                  <a:srgbClr val="000000"/>
                </a:solidFill>
                <a:latin typeface="Trebuchet MS"/>
                <a:ea typeface="Trebuchet MS"/>
                <a:cs typeface="Trebuchet MS"/>
                <a:sym typeface="Trebuchet MS"/>
              </a:rPr>
              <a:t>Humanitarian NGOs (operating across Uganda, Kenya, Somalia - chronically underfunded) :Forced into long field travel per disbursement for collecting proof of life and verification/authentication.</a:t>
            </a:r>
          </a:p>
          <a:p>
            <a:pPr algn="l">
              <a:lnSpc>
                <a:spcPts val="2649"/>
              </a:lnSpc>
            </a:pPr>
          </a:p>
          <a:p>
            <a:pPr algn="l">
              <a:lnSpc>
                <a:spcPts val="3027"/>
              </a:lnSpc>
            </a:pPr>
            <a:r>
              <a:rPr lang="en-US" sz="2522" i="true" spc="-70">
                <a:solidFill>
                  <a:srgbClr val="000000"/>
                </a:solidFill>
                <a:latin typeface="Trebuchet MS Italics"/>
                <a:ea typeface="Trebuchet MS Italics"/>
                <a:cs typeface="Trebuchet MS Italics"/>
                <a:sym typeface="Trebuchet MS Italics"/>
              </a:rPr>
              <a:t>3.</a:t>
            </a:r>
            <a:r>
              <a:rPr lang="en-US" b="true" sz="2522" spc="-70">
                <a:solidFill>
                  <a:srgbClr val="284181"/>
                </a:solidFill>
                <a:latin typeface="Trebuchet MS Bold"/>
                <a:ea typeface="Trebuchet MS Bold"/>
                <a:cs typeface="Trebuchet MS Bold"/>
                <a:sym typeface="Trebuchet MS Bold"/>
              </a:rPr>
              <a:t>How does the absence of an integrated digital ID cause or worsen these barriers?</a:t>
            </a:r>
          </a:p>
          <a:p>
            <a:pPr algn="l" marL="479925" indent="-239962" lvl="1">
              <a:lnSpc>
                <a:spcPts val="2667"/>
              </a:lnSpc>
              <a:buFont typeface="Arial"/>
              <a:buChar char="•"/>
            </a:pPr>
            <a:r>
              <a:rPr lang="en-US" sz="2222" spc="-62">
                <a:solidFill>
                  <a:srgbClr val="3F3F3F"/>
                </a:solidFill>
                <a:latin typeface="Trebuchet MS"/>
                <a:ea typeface="Trebuchet MS"/>
                <a:cs typeface="Trebuchet MS"/>
                <a:sym typeface="Trebuchet MS"/>
              </a:rPr>
              <a:t>Refugees and displaced persons - Siloed registries with no shared identity layer allow the same individual to register across UNHCR PRIMES, national ID, and NGO databases simultaneously, enabling duplicate aid claims with no mechanism to detect them.</a:t>
            </a:r>
          </a:p>
          <a:p>
            <a:pPr algn="l" marL="479925" indent="-239962" lvl="1">
              <a:lnSpc>
                <a:spcPts val="2667"/>
              </a:lnSpc>
              <a:buFont typeface="Arial"/>
              <a:buChar char="•"/>
            </a:pPr>
            <a:r>
              <a:rPr lang="en-US" sz="2222" spc="-62">
                <a:solidFill>
                  <a:srgbClr val="3F3F3F"/>
                </a:solidFill>
                <a:latin typeface="Trebuchet MS"/>
                <a:ea typeface="Trebuchet MS"/>
                <a:cs typeface="Trebuchet MS"/>
                <a:sym typeface="Trebuchet MS"/>
              </a:rPr>
              <a:t>Victims of SIM-swap fraud - No biometric anchor to the national ID means authentication relies entirely on SIM ownership and OTPs, giving attackers full account access the moment they control the phone number.</a:t>
            </a:r>
          </a:p>
          <a:p>
            <a:pPr algn="l">
              <a:lnSpc>
                <a:spcPts val="3027"/>
              </a:lnSpc>
            </a:pPr>
          </a:p>
          <a:p>
            <a:pPr algn="l">
              <a:lnSpc>
                <a:spcPts val="2649"/>
              </a:lnSpc>
            </a:pPr>
          </a:p>
          <a:p>
            <a:pPr algn="l">
              <a:lnSpc>
                <a:spcPts val="2649"/>
              </a:lnSpc>
            </a:pPr>
          </a:p>
          <a:p>
            <a:pPr algn="l">
              <a:lnSpc>
                <a:spcPts val="2649"/>
              </a:lnSpc>
            </a:pPr>
          </a:p>
          <a:p>
            <a:pPr algn="l">
              <a:lnSpc>
                <a:spcPts val="2649"/>
              </a:lnSpc>
            </a:pPr>
          </a:p>
          <a:p>
            <a:pPr algn="l" marL="399509" indent="-199754" lvl="1">
              <a:lnSpc>
                <a:spcPts val="2649"/>
              </a:lnSpc>
            </a:pPr>
          </a:p>
          <a:p>
            <a:pPr algn="l" marL="399509" indent="-199754" lvl="1">
              <a:lnSpc>
                <a:spcPts val="2649"/>
              </a:lnSpc>
            </a:pP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23041" y="393718"/>
            <a:ext cx="17126958" cy="2362200"/>
          </a:xfrm>
          <a:prstGeom prst="rect">
            <a:avLst/>
          </a:prstGeom>
        </p:spPr>
        <p:txBody>
          <a:bodyPr anchor="t" rtlCol="false" tIns="0" lIns="0" bIns="0" rIns="0">
            <a:spAutoFit/>
          </a:bodyPr>
          <a:lstStyle/>
          <a:p>
            <a:pPr algn="l">
              <a:lnSpc>
                <a:spcPts val="2838"/>
              </a:lnSpc>
            </a:pPr>
            <a:r>
              <a:rPr lang="en-US" sz="2365" b="true">
                <a:solidFill>
                  <a:srgbClr val="284181"/>
                </a:solidFill>
                <a:latin typeface="Trebuchet MS Bold"/>
                <a:ea typeface="Trebuchet MS Bold"/>
                <a:cs typeface="Trebuchet MS Bold"/>
                <a:sym typeface="Trebuchet MS Bold"/>
              </a:rPr>
              <a:t>4.</a:t>
            </a:r>
            <a:r>
              <a:rPr lang="en-US" sz="2365" b="true">
                <a:solidFill>
                  <a:srgbClr val="284181"/>
                </a:solidFill>
                <a:latin typeface="Trebuchet MS Bold"/>
                <a:ea typeface="Trebuchet MS Bold"/>
                <a:cs typeface="Trebuchet MS Bold"/>
                <a:sym typeface="Trebuchet MS Bold"/>
              </a:rPr>
              <a:t>What is the scale and urgency of this problem?</a:t>
            </a:r>
          </a:p>
          <a:p>
            <a:pPr algn="l">
              <a:lnSpc>
                <a:spcPts val="2649"/>
              </a:lnSpc>
            </a:pPr>
          </a:p>
          <a:p>
            <a:pPr algn="l">
              <a:lnSpc>
                <a:spcPts val="2649"/>
              </a:lnSpc>
            </a:pPr>
          </a:p>
          <a:p>
            <a:pPr algn="l">
              <a:lnSpc>
                <a:spcPts val="2649"/>
              </a:lnSpc>
            </a:pPr>
          </a:p>
          <a:p>
            <a:pPr algn="l">
              <a:lnSpc>
                <a:spcPts val="2649"/>
              </a:lnSpc>
            </a:pPr>
          </a:p>
          <a:p>
            <a:pPr algn="l" marL="399509" indent="-199754" lvl="1">
              <a:lnSpc>
                <a:spcPts val="2649"/>
              </a:lnSpc>
            </a:pPr>
          </a:p>
          <a:p>
            <a:pPr algn="l" marL="399509" indent="-199754" lvl="1">
              <a:lnSpc>
                <a:spcPts val="2649"/>
              </a:lnSpc>
            </a:pPr>
          </a:p>
        </p:txBody>
      </p:sp>
      <p:sp>
        <p:nvSpPr>
          <p:cNvPr name="TextBox 3" id="3"/>
          <p:cNvSpPr txBox="true"/>
          <p:nvPr/>
        </p:nvSpPr>
        <p:spPr>
          <a:xfrm rot="0">
            <a:off x="190699" y="1560531"/>
            <a:ext cx="17906603" cy="6686550"/>
          </a:xfrm>
          <a:prstGeom prst="rect">
            <a:avLst/>
          </a:prstGeom>
        </p:spPr>
        <p:txBody>
          <a:bodyPr anchor="t" rtlCol="false" tIns="0" lIns="0" bIns="0" rIns="0">
            <a:spAutoFit/>
          </a:bodyPr>
          <a:lstStyle/>
          <a:p>
            <a:pPr algn="l" marL="476607" indent="-238303" lvl="1">
              <a:lnSpc>
                <a:spcPts val="2649"/>
              </a:lnSpc>
              <a:buFont typeface="Arial"/>
              <a:buChar char="•"/>
            </a:pPr>
            <a:r>
              <a:rPr lang="en-US" sz="2207" i="true" spc="-61">
                <a:solidFill>
                  <a:srgbClr val="000000"/>
                </a:solidFill>
                <a:latin typeface="Trebuchet MS Italics"/>
                <a:ea typeface="Trebuchet MS Italics"/>
                <a:cs typeface="Trebuchet MS Italics"/>
                <a:sym typeface="Trebuchet MS Italics"/>
              </a:rPr>
              <a:t>SIM-swap fraud: Kenya lost Ksh810 million to mobile banking fraud in 2024, a 344% increase, with 123,000 fraudulent SIMs used to drain Sh500 million from M-Pesa alone.</a:t>
            </a:r>
          </a:p>
          <a:p>
            <a:pPr algn="l">
              <a:lnSpc>
                <a:spcPts val="2649"/>
              </a:lnSpc>
            </a:pPr>
          </a:p>
          <a:p>
            <a:pPr algn="l" marL="476607" indent="-238303" lvl="1">
              <a:lnSpc>
                <a:spcPts val="2649"/>
              </a:lnSpc>
              <a:buFont typeface="Arial"/>
              <a:buChar char="•"/>
            </a:pPr>
            <a:r>
              <a:rPr lang="en-US" sz="2207" i="true" spc="-61">
                <a:solidFill>
                  <a:srgbClr val="000000"/>
                </a:solidFill>
                <a:latin typeface="Trebuchet MS Italics"/>
                <a:ea typeface="Trebuchet MS Italics"/>
                <a:cs typeface="Trebuchet MS Italics"/>
                <a:sym typeface="Trebuchet MS Italics"/>
              </a:rPr>
              <a:t>No accessible authentication layer: 59.2% of Kenya and 84.7% of Uganda's population remains offline, meaning most citizens hold a national ID but have no digital interface to use it.</a:t>
            </a:r>
          </a:p>
          <a:p>
            <a:pPr algn="l">
              <a:lnSpc>
                <a:spcPts val="2649"/>
              </a:lnSpc>
            </a:pPr>
          </a:p>
          <a:p>
            <a:pPr algn="l" marL="476607" indent="-238303" lvl="1">
              <a:lnSpc>
                <a:spcPts val="2649"/>
              </a:lnSpc>
              <a:buFont typeface="Arial"/>
              <a:buChar char="•"/>
            </a:pPr>
            <a:r>
              <a:rPr lang="en-US" sz="2207" i="true" spc="-61">
                <a:solidFill>
                  <a:srgbClr val="000000"/>
                </a:solidFill>
                <a:latin typeface="Trebuchet MS Italics"/>
                <a:ea typeface="Trebuchet MS Italics"/>
                <a:cs typeface="Trebuchet MS Italics"/>
                <a:sym typeface="Trebuchet MS Italics"/>
              </a:rPr>
              <a:t>eCitizen exclusion: 70.2% of Kenya's population is rural, yet eCitizen's facial scan requirement locks out everyone without a smartphone from government wallet services.</a:t>
            </a:r>
          </a:p>
          <a:p>
            <a:pPr algn="l">
              <a:lnSpc>
                <a:spcPts val="2649"/>
              </a:lnSpc>
            </a:pPr>
          </a:p>
          <a:p>
            <a:pPr algn="l" marL="476607" indent="-238303" lvl="1">
              <a:lnSpc>
                <a:spcPts val="2649"/>
              </a:lnSpc>
              <a:buFont typeface="Arial"/>
              <a:buChar char="•"/>
            </a:pPr>
            <a:r>
              <a:rPr lang="en-US" sz="2207" i="true" spc="-61">
                <a:solidFill>
                  <a:srgbClr val="000000"/>
                </a:solidFill>
                <a:latin typeface="Trebuchet MS Italics"/>
                <a:ea typeface="Trebuchet MS Italics"/>
                <a:cs typeface="Trebuchet MS Italics"/>
                <a:sym typeface="Trebuchet MS Italics"/>
              </a:rPr>
              <a:t>Refugees unable to access aid: Uganda hosts 1.8 million refugees, Africa's largest population, with UNHCR now delivering only $5 per refugee per month against a $16 minimum, partly because manual verification costs consume aid budgets.</a:t>
            </a:r>
          </a:p>
          <a:p>
            <a:pPr algn="l">
              <a:lnSpc>
                <a:spcPts val="2649"/>
              </a:lnSpc>
            </a:pPr>
          </a:p>
          <a:p>
            <a:pPr algn="l" marL="476607" indent="-238303" lvl="1">
              <a:lnSpc>
                <a:spcPts val="2649"/>
              </a:lnSpc>
              <a:buFont typeface="Arial"/>
              <a:buChar char="•"/>
            </a:pPr>
            <a:r>
              <a:rPr lang="en-US" sz="2207" i="true" spc="-61">
                <a:solidFill>
                  <a:srgbClr val="000000"/>
                </a:solidFill>
                <a:latin typeface="Trebuchet MS Italics"/>
                <a:ea typeface="Trebuchet MS Italics"/>
                <a:cs typeface="Trebuchet MS Italics"/>
                <a:sym typeface="Trebuchet MS Italics"/>
              </a:rPr>
              <a:t>NGO last-mile verification cost: CARE Somalia field officers travelled hundreds of kilometres per disbursement cycle for manual thumbprint verification, a direct operational drain on chronically underfunded humanitarian budgets.</a:t>
            </a:r>
          </a:p>
          <a:p>
            <a:pPr algn="l">
              <a:lnSpc>
                <a:spcPts val="2649"/>
              </a:lnSpc>
            </a:pPr>
          </a:p>
          <a:p>
            <a:pPr algn="l" marL="476607" indent="-238303" lvl="1">
              <a:lnSpc>
                <a:spcPts val="2649"/>
              </a:lnSpc>
              <a:buFont typeface="Arial"/>
              <a:buChar char="•"/>
            </a:pPr>
            <a:r>
              <a:rPr lang="en-US" sz="2207" i="true" spc="-61">
                <a:solidFill>
                  <a:srgbClr val="000000"/>
                </a:solidFill>
                <a:latin typeface="Trebuchet MS Italics"/>
                <a:ea typeface="Trebuchet MS Italics"/>
                <a:cs typeface="Trebuchet MS Italics"/>
                <a:sym typeface="Trebuchet MS Italics"/>
              </a:rPr>
              <a:t>Agent and intermediary theft: 53% of mobile money agents in Uganda reported fraud in the past year, and low-literacy beneficiaries depending on intermediaries face undisclosed charges and outright theft with no recourse.</a:t>
            </a:r>
          </a:p>
          <a:p>
            <a:pPr algn="l">
              <a:lnSpc>
                <a:spcPts val="2649"/>
              </a:lnSpc>
            </a:pPr>
          </a:p>
          <a:p>
            <a:pPr algn="l" marL="476607" indent="-238303" lvl="1">
              <a:lnSpc>
                <a:spcPts val="2649"/>
              </a:lnSpc>
              <a:buFont typeface="Arial"/>
              <a:buChar char="•"/>
            </a:pPr>
            <a:r>
              <a:rPr lang="en-US" sz="2207" i="true" spc="-61">
                <a:solidFill>
                  <a:srgbClr val="000000"/>
                </a:solidFill>
                <a:latin typeface="Trebuchet MS Italics"/>
                <a:ea typeface="Trebuchet MS Italics"/>
                <a:cs typeface="Trebuchet MS Italics"/>
                <a:sym typeface="Trebuchet MS Italics"/>
              </a:rPr>
              <a:t>Social cash transfer exclusion: Inua Jamii and SAGE beneficiaries must physically visit agents with original ID every cycle; those who cannot travel or whose fingerprints fail simply do not receive their entitlement.</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140">
            <a:off x="654872" y="9575359"/>
            <a:ext cx="11852405" cy="0"/>
          </a:xfrm>
          <a:prstGeom prst="line">
            <a:avLst/>
          </a:prstGeom>
          <a:ln cap="rnd" w="9525">
            <a:solidFill>
              <a:srgbClr val="284181"/>
            </a:solidFill>
            <a:prstDash val="solid"/>
            <a:headEnd type="none" len="sm" w="sm"/>
            <a:tailEnd type="none" len="sm" w="sm"/>
          </a:ln>
        </p:spPr>
      </p:sp>
      <p:sp>
        <p:nvSpPr>
          <p:cNvPr name="AutoShape 3" id="3"/>
          <p:cNvSpPr/>
          <p:nvPr/>
        </p:nvSpPr>
        <p:spPr>
          <a:xfrm rot="10020">
            <a:off x="12686767" y="9575359"/>
            <a:ext cx="4889106" cy="0"/>
          </a:xfrm>
          <a:prstGeom prst="line">
            <a:avLst/>
          </a:prstGeom>
          <a:ln cap="rnd" w="9525">
            <a:solidFill>
              <a:srgbClr val="00BFDF"/>
            </a:solidFill>
            <a:prstDash val="solid"/>
            <a:headEnd type="none" len="sm" w="sm"/>
            <a:tailEnd type="none" len="sm" w="sm"/>
          </a:ln>
        </p:spPr>
      </p:sp>
      <p:sp>
        <p:nvSpPr>
          <p:cNvPr name="TextBox 4" id="4"/>
          <p:cNvSpPr txBox="true"/>
          <p:nvPr/>
        </p:nvSpPr>
        <p:spPr>
          <a:xfrm rot="0">
            <a:off x="681361" y="9781699"/>
            <a:ext cx="960149" cy="273901"/>
          </a:xfrm>
          <a:prstGeom prst="rect">
            <a:avLst/>
          </a:prstGeom>
        </p:spPr>
        <p:txBody>
          <a:bodyPr anchor="t" rtlCol="false" tIns="0" lIns="0" bIns="0" rIns="0">
            <a:spAutoFit/>
          </a:bodyPr>
          <a:lstStyle/>
          <a:p>
            <a:pPr algn="l">
              <a:lnSpc>
                <a:spcPts val="1620"/>
              </a:lnSpc>
            </a:pPr>
            <a:r>
              <a:rPr lang="en-US" sz="1350">
                <a:solidFill>
                  <a:srgbClr val="595959"/>
                </a:solidFill>
                <a:latin typeface="Trebuchet MS"/>
                <a:ea typeface="Trebuchet MS"/>
                <a:cs typeface="Trebuchet MS"/>
                <a:sym typeface="Trebuchet MS"/>
              </a:rPr>
              <a:t>‹#›</a:t>
            </a:r>
          </a:p>
        </p:txBody>
      </p:sp>
      <p:sp>
        <p:nvSpPr>
          <p:cNvPr name="TextBox 5" id="5"/>
          <p:cNvSpPr txBox="true"/>
          <p:nvPr/>
        </p:nvSpPr>
        <p:spPr>
          <a:xfrm rot="0">
            <a:off x="5261715" y="9851822"/>
            <a:ext cx="7764570" cy="203778"/>
          </a:xfrm>
          <a:prstGeom prst="rect">
            <a:avLst/>
          </a:prstGeom>
        </p:spPr>
        <p:txBody>
          <a:bodyPr anchor="t" rtlCol="false" tIns="0" lIns="0" bIns="0" rIns="0">
            <a:spAutoFit/>
          </a:bodyPr>
          <a:lstStyle/>
          <a:p>
            <a:pPr algn="ctr">
              <a:lnSpc>
                <a:spcPts val="1296"/>
              </a:lnSpc>
            </a:pPr>
            <a:r>
              <a:rPr lang="en-US" sz="1200">
                <a:solidFill>
                  <a:srgbClr val="595959"/>
                </a:solidFill>
                <a:latin typeface="Trebuchet MS"/>
                <a:ea typeface="Trebuchet MS"/>
                <a:cs typeface="Trebuchet MS"/>
                <a:sym typeface="Trebuchet MS"/>
              </a:rPr>
              <a:t> All rights reserved. This document is proprietary and confidential.</a:t>
            </a:r>
          </a:p>
        </p:txBody>
      </p:sp>
      <p:sp>
        <p:nvSpPr>
          <p:cNvPr name="TextBox 6" id="6"/>
          <p:cNvSpPr txBox="true"/>
          <p:nvPr/>
        </p:nvSpPr>
        <p:spPr>
          <a:xfrm rot="0">
            <a:off x="603371" y="373380"/>
            <a:ext cx="16928840" cy="433959"/>
          </a:xfrm>
          <a:prstGeom prst="rect">
            <a:avLst/>
          </a:prstGeom>
        </p:spPr>
        <p:txBody>
          <a:bodyPr anchor="t" rtlCol="false" tIns="0" lIns="0" bIns="0" rIns="0">
            <a:spAutoFit/>
          </a:bodyPr>
          <a:lstStyle/>
          <a:p>
            <a:pPr algn="l">
              <a:lnSpc>
                <a:spcPts val="3240"/>
              </a:lnSpc>
            </a:pPr>
            <a:r>
              <a:rPr lang="en-US" sz="3000" b="true">
                <a:solidFill>
                  <a:srgbClr val="284181"/>
                </a:solidFill>
                <a:latin typeface="Trebuchet MS Bold"/>
                <a:ea typeface="Trebuchet MS Bold"/>
                <a:cs typeface="Trebuchet MS Bold"/>
                <a:sym typeface="Trebuchet MS Bold"/>
              </a:rPr>
              <a:t>Proposed solution overview</a:t>
            </a:r>
          </a:p>
        </p:txBody>
      </p:sp>
      <p:grpSp>
        <p:nvGrpSpPr>
          <p:cNvPr name="Group 7" id="7"/>
          <p:cNvGrpSpPr/>
          <p:nvPr/>
        </p:nvGrpSpPr>
        <p:grpSpPr>
          <a:xfrm rot="0">
            <a:off x="531019" y="1249342"/>
            <a:ext cx="17092612" cy="1266549"/>
            <a:chOff x="0" y="0"/>
            <a:chExt cx="22790150" cy="1688732"/>
          </a:xfrm>
        </p:grpSpPr>
        <p:sp>
          <p:nvSpPr>
            <p:cNvPr name="Freeform 8" id="8"/>
            <p:cNvSpPr/>
            <p:nvPr/>
          </p:nvSpPr>
          <p:spPr>
            <a:xfrm flipH="false" flipV="false" rot="0">
              <a:off x="0" y="0"/>
              <a:ext cx="22790150" cy="1688719"/>
            </a:xfrm>
            <a:custGeom>
              <a:avLst/>
              <a:gdLst/>
              <a:ahLst/>
              <a:cxnLst/>
              <a:rect r="r" b="b" t="t" l="l"/>
              <a:pathLst>
                <a:path h="1688719" w="22790150">
                  <a:moveTo>
                    <a:pt x="0" y="0"/>
                  </a:moveTo>
                  <a:lnTo>
                    <a:pt x="22790150" y="0"/>
                  </a:lnTo>
                  <a:lnTo>
                    <a:pt x="22790150" y="1688719"/>
                  </a:lnTo>
                  <a:lnTo>
                    <a:pt x="0" y="1688719"/>
                  </a:lnTo>
                  <a:close/>
                </a:path>
              </a:pathLst>
            </a:custGeom>
            <a:solidFill>
              <a:srgbClr val="E6E7E8"/>
            </a:solidFill>
          </p:spPr>
        </p:sp>
      </p:grpSp>
      <p:grpSp>
        <p:nvGrpSpPr>
          <p:cNvPr name="Group 9" id="9"/>
          <p:cNvGrpSpPr/>
          <p:nvPr/>
        </p:nvGrpSpPr>
        <p:grpSpPr>
          <a:xfrm rot="-10800000">
            <a:off x="776054" y="1267320"/>
            <a:ext cx="1730912" cy="1634833"/>
            <a:chOff x="0" y="0"/>
            <a:chExt cx="2307882" cy="2179777"/>
          </a:xfrm>
        </p:grpSpPr>
        <p:sp>
          <p:nvSpPr>
            <p:cNvPr name="Freeform 10" id="10"/>
            <p:cNvSpPr/>
            <p:nvPr/>
          </p:nvSpPr>
          <p:spPr>
            <a:xfrm flipH="false" flipV="false" rot="0">
              <a:off x="0" y="0"/>
              <a:ext cx="2307844" cy="2179828"/>
            </a:xfrm>
            <a:custGeom>
              <a:avLst/>
              <a:gdLst/>
              <a:ahLst/>
              <a:cxnLst/>
              <a:rect r="r" b="b" t="t" l="l"/>
              <a:pathLst>
                <a:path h="2179828" w="2307844">
                  <a:moveTo>
                    <a:pt x="2307844" y="2179828"/>
                  </a:moveTo>
                  <a:lnTo>
                    <a:pt x="0" y="2179828"/>
                  </a:lnTo>
                  <a:lnTo>
                    <a:pt x="0" y="274574"/>
                  </a:lnTo>
                  <a:lnTo>
                    <a:pt x="1153922" y="0"/>
                  </a:lnTo>
                  <a:lnTo>
                    <a:pt x="2307844" y="274574"/>
                  </a:lnTo>
                  <a:close/>
                </a:path>
              </a:pathLst>
            </a:custGeom>
            <a:solidFill>
              <a:srgbClr val="284181"/>
            </a:solidFill>
          </p:spPr>
        </p:sp>
      </p:grpSp>
      <p:grpSp>
        <p:nvGrpSpPr>
          <p:cNvPr name="Group 11" id="11"/>
          <p:cNvGrpSpPr/>
          <p:nvPr/>
        </p:nvGrpSpPr>
        <p:grpSpPr>
          <a:xfrm rot="0">
            <a:off x="944923" y="1422155"/>
            <a:ext cx="1393174" cy="1226129"/>
            <a:chOff x="0" y="0"/>
            <a:chExt cx="1857565" cy="1634838"/>
          </a:xfrm>
        </p:grpSpPr>
        <p:sp>
          <p:nvSpPr>
            <p:cNvPr name="Freeform 12" id="12"/>
            <p:cNvSpPr/>
            <p:nvPr/>
          </p:nvSpPr>
          <p:spPr>
            <a:xfrm flipH="false" flipV="false" rot="0">
              <a:off x="0" y="0"/>
              <a:ext cx="1857502" cy="1634749"/>
            </a:xfrm>
            <a:custGeom>
              <a:avLst/>
              <a:gdLst/>
              <a:ahLst/>
              <a:cxnLst/>
              <a:rect r="r" b="b" t="t" l="l"/>
              <a:pathLst>
                <a:path h="1634749" w="1857502">
                  <a:moveTo>
                    <a:pt x="0" y="817375"/>
                  </a:moveTo>
                  <a:cubicBezTo>
                    <a:pt x="0" y="366015"/>
                    <a:pt x="415798" y="0"/>
                    <a:pt x="928751" y="0"/>
                  </a:cubicBezTo>
                  <a:cubicBezTo>
                    <a:pt x="1441704" y="0"/>
                    <a:pt x="1857502" y="366015"/>
                    <a:pt x="1857502" y="817375"/>
                  </a:cubicBezTo>
                  <a:cubicBezTo>
                    <a:pt x="1857502" y="1268734"/>
                    <a:pt x="1441704" y="1634749"/>
                    <a:pt x="928751" y="1634749"/>
                  </a:cubicBezTo>
                  <a:cubicBezTo>
                    <a:pt x="415798" y="1634749"/>
                    <a:pt x="0" y="1268861"/>
                    <a:pt x="0" y="817375"/>
                  </a:cubicBezTo>
                  <a:close/>
                </a:path>
              </a:pathLst>
            </a:custGeom>
            <a:solidFill>
              <a:srgbClr val="FFFFFF"/>
            </a:solidFill>
          </p:spPr>
        </p:sp>
        <p:sp>
          <p:nvSpPr>
            <p:cNvPr name="TextBox 13" id="13"/>
            <p:cNvSpPr txBox="true"/>
            <p:nvPr/>
          </p:nvSpPr>
          <p:spPr>
            <a:xfrm>
              <a:off x="0" y="-9525"/>
              <a:ext cx="1857565" cy="1644363"/>
            </a:xfrm>
            <a:prstGeom prst="rect">
              <a:avLst/>
            </a:prstGeom>
          </p:spPr>
          <p:txBody>
            <a:bodyPr anchor="ctr" rtlCol="false" tIns="50800" lIns="50800" bIns="50800" rIns="50800"/>
            <a:lstStyle/>
            <a:p>
              <a:pPr algn="ctr">
                <a:lnSpc>
                  <a:spcPts val="5040"/>
                </a:lnSpc>
              </a:pPr>
              <a:r>
                <a:rPr lang="en-US" b="true" sz="4200">
                  <a:solidFill>
                    <a:srgbClr val="284181"/>
                  </a:solidFill>
                  <a:latin typeface="Trebuchet MS Bold"/>
                  <a:ea typeface="Trebuchet MS Bold"/>
                  <a:cs typeface="Trebuchet MS Bold"/>
                  <a:sym typeface="Trebuchet MS Bold"/>
                </a:rPr>
                <a:t>01</a:t>
              </a:r>
            </a:p>
          </p:txBody>
        </p:sp>
      </p:grpSp>
      <p:sp>
        <p:nvSpPr>
          <p:cNvPr name="TextBox 14" id="14"/>
          <p:cNvSpPr txBox="true"/>
          <p:nvPr/>
        </p:nvSpPr>
        <p:spPr>
          <a:xfrm rot="0">
            <a:off x="2606035" y="1682801"/>
            <a:ext cx="14068901" cy="401936"/>
          </a:xfrm>
          <a:prstGeom prst="rect">
            <a:avLst/>
          </a:prstGeom>
        </p:spPr>
        <p:txBody>
          <a:bodyPr anchor="t" rtlCol="false" tIns="0" lIns="0" bIns="0" rIns="0">
            <a:spAutoFit/>
          </a:bodyPr>
          <a:lstStyle/>
          <a:p>
            <a:pPr algn="l">
              <a:lnSpc>
                <a:spcPts val="2916"/>
              </a:lnSpc>
            </a:pPr>
            <a:r>
              <a:rPr lang="en-US" b="true" sz="2700" i="true">
                <a:solidFill>
                  <a:srgbClr val="284181"/>
                </a:solidFill>
                <a:latin typeface="Trebuchet MS Bold Italics"/>
                <a:ea typeface="Trebuchet MS Bold Italics"/>
                <a:cs typeface="Trebuchet MS Bold Italics"/>
                <a:sym typeface="Trebuchet MS Bold Italics"/>
              </a:rPr>
              <a:t> What is your solution, and how does it solve the problem described previously?</a:t>
            </a:r>
          </a:p>
        </p:txBody>
      </p:sp>
      <p:grpSp>
        <p:nvGrpSpPr>
          <p:cNvPr name="Group 15" id="15"/>
          <p:cNvGrpSpPr/>
          <p:nvPr/>
        </p:nvGrpSpPr>
        <p:grpSpPr>
          <a:xfrm rot="0">
            <a:off x="439598" y="4413674"/>
            <a:ext cx="17092612" cy="1266549"/>
            <a:chOff x="0" y="0"/>
            <a:chExt cx="22790150" cy="1688732"/>
          </a:xfrm>
        </p:grpSpPr>
        <p:sp>
          <p:nvSpPr>
            <p:cNvPr name="Freeform 16" id="16"/>
            <p:cNvSpPr/>
            <p:nvPr/>
          </p:nvSpPr>
          <p:spPr>
            <a:xfrm flipH="false" flipV="false" rot="0">
              <a:off x="0" y="0"/>
              <a:ext cx="22790150" cy="1688719"/>
            </a:xfrm>
            <a:custGeom>
              <a:avLst/>
              <a:gdLst/>
              <a:ahLst/>
              <a:cxnLst/>
              <a:rect r="r" b="b" t="t" l="l"/>
              <a:pathLst>
                <a:path h="1688719" w="22790150">
                  <a:moveTo>
                    <a:pt x="0" y="0"/>
                  </a:moveTo>
                  <a:lnTo>
                    <a:pt x="22790150" y="0"/>
                  </a:lnTo>
                  <a:lnTo>
                    <a:pt x="22790150" y="1688719"/>
                  </a:lnTo>
                  <a:lnTo>
                    <a:pt x="0" y="1688719"/>
                  </a:lnTo>
                  <a:close/>
                </a:path>
              </a:pathLst>
            </a:custGeom>
            <a:solidFill>
              <a:srgbClr val="E6E7E8"/>
            </a:solidFill>
          </p:spPr>
        </p:sp>
      </p:grpSp>
      <p:grpSp>
        <p:nvGrpSpPr>
          <p:cNvPr name="Group 17" id="17"/>
          <p:cNvGrpSpPr/>
          <p:nvPr/>
        </p:nvGrpSpPr>
        <p:grpSpPr>
          <a:xfrm rot="-10800000">
            <a:off x="776054" y="4229532"/>
            <a:ext cx="1730912" cy="1634833"/>
            <a:chOff x="0" y="0"/>
            <a:chExt cx="2307882" cy="2179777"/>
          </a:xfrm>
        </p:grpSpPr>
        <p:sp>
          <p:nvSpPr>
            <p:cNvPr name="Freeform 18" id="18"/>
            <p:cNvSpPr/>
            <p:nvPr/>
          </p:nvSpPr>
          <p:spPr>
            <a:xfrm flipH="false" flipV="false" rot="0">
              <a:off x="0" y="0"/>
              <a:ext cx="2307844" cy="2179828"/>
            </a:xfrm>
            <a:custGeom>
              <a:avLst/>
              <a:gdLst/>
              <a:ahLst/>
              <a:cxnLst/>
              <a:rect r="r" b="b" t="t" l="l"/>
              <a:pathLst>
                <a:path h="2179828" w="2307844">
                  <a:moveTo>
                    <a:pt x="2307844" y="2179828"/>
                  </a:moveTo>
                  <a:lnTo>
                    <a:pt x="0" y="2179828"/>
                  </a:lnTo>
                  <a:lnTo>
                    <a:pt x="0" y="274574"/>
                  </a:lnTo>
                  <a:lnTo>
                    <a:pt x="1153922" y="0"/>
                  </a:lnTo>
                  <a:lnTo>
                    <a:pt x="2307844" y="274574"/>
                  </a:lnTo>
                  <a:close/>
                </a:path>
              </a:pathLst>
            </a:custGeom>
            <a:solidFill>
              <a:srgbClr val="00BFDF"/>
            </a:solidFill>
          </p:spPr>
        </p:sp>
      </p:grpSp>
      <p:grpSp>
        <p:nvGrpSpPr>
          <p:cNvPr name="Group 19" id="19"/>
          <p:cNvGrpSpPr/>
          <p:nvPr/>
        </p:nvGrpSpPr>
        <p:grpSpPr>
          <a:xfrm rot="0">
            <a:off x="944923" y="4530436"/>
            <a:ext cx="1393174" cy="1226128"/>
            <a:chOff x="0" y="0"/>
            <a:chExt cx="1857565" cy="1634838"/>
          </a:xfrm>
        </p:grpSpPr>
        <p:sp>
          <p:nvSpPr>
            <p:cNvPr name="Freeform 20" id="20"/>
            <p:cNvSpPr/>
            <p:nvPr/>
          </p:nvSpPr>
          <p:spPr>
            <a:xfrm flipH="false" flipV="false" rot="0">
              <a:off x="0" y="0"/>
              <a:ext cx="1857502" cy="1634749"/>
            </a:xfrm>
            <a:custGeom>
              <a:avLst/>
              <a:gdLst/>
              <a:ahLst/>
              <a:cxnLst/>
              <a:rect r="r" b="b" t="t" l="l"/>
              <a:pathLst>
                <a:path h="1634749" w="1857502">
                  <a:moveTo>
                    <a:pt x="0" y="817375"/>
                  </a:moveTo>
                  <a:cubicBezTo>
                    <a:pt x="0" y="366015"/>
                    <a:pt x="415798" y="0"/>
                    <a:pt x="928751" y="0"/>
                  </a:cubicBezTo>
                  <a:cubicBezTo>
                    <a:pt x="1441704" y="0"/>
                    <a:pt x="1857502" y="366015"/>
                    <a:pt x="1857502" y="817375"/>
                  </a:cubicBezTo>
                  <a:cubicBezTo>
                    <a:pt x="1857502" y="1268734"/>
                    <a:pt x="1441704" y="1634749"/>
                    <a:pt x="928751" y="1634749"/>
                  </a:cubicBezTo>
                  <a:cubicBezTo>
                    <a:pt x="415798" y="1634749"/>
                    <a:pt x="0" y="1268861"/>
                    <a:pt x="0" y="817375"/>
                  </a:cubicBezTo>
                  <a:close/>
                </a:path>
              </a:pathLst>
            </a:custGeom>
            <a:solidFill>
              <a:srgbClr val="FFFFFF"/>
            </a:solidFill>
          </p:spPr>
        </p:sp>
        <p:sp>
          <p:nvSpPr>
            <p:cNvPr name="TextBox 21" id="21"/>
            <p:cNvSpPr txBox="true"/>
            <p:nvPr/>
          </p:nvSpPr>
          <p:spPr>
            <a:xfrm>
              <a:off x="0" y="-9525"/>
              <a:ext cx="1857565" cy="1644363"/>
            </a:xfrm>
            <a:prstGeom prst="rect">
              <a:avLst/>
            </a:prstGeom>
          </p:spPr>
          <p:txBody>
            <a:bodyPr anchor="ctr" rtlCol="false" tIns="50800" lIns="50800" bIns="50800" rIns="50800"/>
            <a:lstStyle/>
            <a:p>
              <a:pPr algn="ctr">
                <a:lnSpc>
                  <a:spcPts val="5040"/>
                </a:lnSpc>
              </a:pPr>
              <a:r>
                <a:rPr lang="en-US" b="true" sz="4200">
                  <a:solidFill>
                    <a:srgbClr val="00BFDF"/>
                  </a:solidFill>
                  <a:latin typeface="Trebuchet MS Bold"/>
                  <a:ea typeface="Trebuchet MS Bold"/>
                  <a:cs typeface="Trebuchet MS Bold"/>
                  <a:sym typeface="Trebuchet MS Bold"/>
                </a:rPr>
                <a:t>02</a:t>
              </a:r>
            </a:p>
          </p:txBody>
        </p:sp>
      </p:grpSp>
      <p:sp>
        <p:nvSpPr>
          <p:cNvPr name="TextBox 22" id="22"/>
          <p:cNvSpPr txBox="true"/>
          <p:nvPr/>
        </p:nvSpPr>
        <p:spPr>
          <a:xfrm rot="0">
            <a:off x="2874073" y="4741564"/>
            <a:ext cx="14068901" cy="401936"/>
          </a:xfrm>
          <a:prstGeom prst="rect">
            <a:avLst/>
          </a:prstGeom>
        </p:spPr>
        <p:txBody>
          <a:bodyPr anchor="t" rtlCol="false" tIns="0" lIns="0" bIns="0" rIns="0">
            <a:spAutoFit/>
          </a:bodyPr>
          <a:lstStyle/>
          <a:p>
            <a:pPr algn="l">
              <a:lnSpc>
                <a:spcPts val="2916"/>
              </a:lnSpc>
            </a:pPr>
            <a:r>
              <a:rPr lang="en-US" b="true" sz="2700" i="true">
                <a:solidFill>
                  <a:srgbClr val="00BFDF"/>
                </a:solidFill>
                <a:latin typeface="Trebuchet MS Bold Italics"/>
                <a:ea typeface="Trebuchet MS Bold Italics"/>
                <a:cs typeface="Trebuchet MS Bold Italics"/>
                <a:sym typeface="Trebuchet MS Bold Italics"/>
              </a:rPr>
              <a:t>How is your solution using Digital ID? Describe </a:t>
            </a:r>
          </a:p>
        </p:txBody>
      </p:sp>
      <p:grpSp>
        <p:nvGrpSpPr>
          <p:cNvPr name="Group 23" id="23"/>
          <p:cNvGrpSpPr/>
          <p:nvPr/>
        </p:nvGrpSpPr>
        <p:grpSpPr>
          <a:xfrm rot="0">
            <a:off x="2874074" y="1882616"/>
            <a:ext cx="137903" cy="139332"/>
            <a:chOff x="0" y="0"/>
            <a:chExt cx="183871" cy="185776"/>
          </a:xfrm>
        </p:grpSpPr>
        <p:sp>
          <p:nvSpPr>
            <p:cNvPr name="Freeform 24" id="24"/>
            <p:cNvSpPr/>
            <p:nvPr/>
          </p:nvSpPr>
          <p:spPr>
            <a:xfrm flipH="false" flipV="false" rot="0">
              <a:off x="0" y="0"/>
              <a:ext cx="183896" cy="185801"/>
            </a:xfrm>
            <a:custGeom>
              <a:avLst/>
              <a:gdLst/>
              <a:ahLst/>
              <a:cxnLst/>
              <a:rect r="r" b="b" t="t" l="l"/>
              <a:pathLst>
                <a:path h="185801" w="183896">
                  <a:moveTo>
                    <a:pt x="0" y="185801"/>
                  </a:moveTo>
                  <a:lnTo>
                    <a:pt x="0" y="0"/>
                  </a:lnTo>
                  <a:lnTo>
                    <a:pt x="183896" y="185801"/>
                  </a:lnTo>
                  <a:close/>
                </a:path>
              </a:pathLst>
            </a:custGeom>
            <a:solidFill>
              <a:srgbClr val="436AB3"/>
            </a:solidFill>
          </p:spPr>
        </p:sp>
      </p:grpSp>
      <p:grpSp>
        <p:nvGrpSpPr>
          <p:cNvPr name="Group 25" id="25"/>
          <p:cNvGrpSpPr/>
          <p:nvPr/>
        </p:nvGrpSpPr>
        <p:grpSpPr>
          <a:xfrm rot="0">
            <a:off x="15054939" y="2686"/>
            <a:ext cx="3239995" cy="522989"/>
            <a:chOff x="0" y="0"/>
            <a:chExt cx="4319994" cy="697319"/>
          </a:xfrm>
        </p:grpSpPr>
        <p:sp>
          <p:nvSpPr>
            <p:cNvPr name="Freeform 26" id="26"/>
            <p:cNvSpPr/>
            <p:nvPr/>
          </p:nvSpPr>
          <p:spPr>
            <a:xfrm flipH="false" flipV="false" rot="0">
              <a:off x="0" y="0"/>
              <a:ext cx="4320032" cy="697357"/>
            </a:xfrm>
            <a:custGeom>
              <a:avLst/>
              <a:gdLst/>
              <a:ahLst/>
              <a:cxnLst/>
              <a:rect r="r" b="b" t="t" l="l"/>
              <a:pathLst>
                <a:path h="697357" w="4320032">
                  <a:moveTo>
                    <a:pt x="0" y="0"/>
                  </a:moveTo>
                  <a:lnTo>
                    <a:pt x="4320032" y="0"/>
                  </a:lnTo>
                  <a:lnTo>
                    <a:pt x="4320032" y="697357"/>
                  </a:lnTo>
                  <a:lnTo>
                    <a:pt x="0" y="697357"/>
                  </a:lnTo>
                  <a:close/>
                </a:path>
              </a:pathLst>
            </a:custGeom>
            <a:solidFill>
              <a:srgbClr val="F79333"/>
            </a:solidFill>
          </p:spPr>
        </p:sp>
        <p:sp>
          <p:nvSpPr>
            <p:cNvPr name="TextBox 27" id="27"/>
            <p:cNvSpPr txBox="true"/>
            <p:nvPr/>
          </p:nvSpPr>
          <p:spPr>
            <a:xfrm>
              <a:off x="0" y="-9525"/>
              <a:ext cx="4319994" cy="706844"/>
            </a:xfrm>
            <a:prstGeom prst="rect">
              <a:avLst/>
            </a:prstGeom>
          </p:spPr>
          <p:txBody>
            <a:bodyPr anchor="ctr" rtlCol="false" tIns="50800" lIns="50800" bIns="50800" rIns="50800"/>
            <a:lstStyle/>
            <a:p>
              <a:pPr algn="ctr">
                <a:lnSpc>
                  <a:spcPts val="3240"/>
                </a:lnSpc>
              </a:pPr>
              <a:r>
                <a:rPr lang="en-US" sz="2700">
                  <a:solidFill>
                    <a:srgbClr val="FFFFFF"/>
                  </a:solidFill>
                  <a:latin typeface="Trebuchet MS"/>
                  <a:ea typeface="Trebuchet MS"/>
                  <a:cs typeface="Trebuchet MS"/>
                  <a:sym typeface="Trebuchet MS"/>
                </a:rPr>
                <a:t>Time: 1 min 30 sec</a:t>
              </a:r>
            </a:p>
          </p:txBody>
        </p:sp>
      </p:grpSp>
      <p:sp>
        <p:nvSpPr>
          <p:cNvPr name="TextBox 28" id="28"/>
          <p:cNvSpPr txBox="true"/>
          <p:nvPr/>
        </p:nvSpPr>
        <p:spPr>
          <a:xfrm rot="0">
            <a:off x="262042" y="3057935"/>
            <a:ext cx="17763915" cy="1352550"/>
          </a:xfrm>
          <a:prstGeom prst="rect">
            <a:avLst/>
          </a:prstGeom>
        </p:spPr>
        <p:txBody>
          <a:bodyPr anchor="t" rtlCol="false" tIns="0" lIns="0" bIns="0" rIns="0">
            <a:spAutoFit/>
          </a:bodyPr>
          <a:lstStyle/>
          <a:p>
            <a:pPr algn="ctr">
              <a:lnSpc>
                <a:spcPts val="2649"/>
              </a:lnSpc>
              <a:spcBef>
                <a:spcPct val="0"/>
              </a:spcBef>
            </a:pPr>
            <a:r>
              <a:rPr lang="en-US" sz="2207" i="true" spc="-61">
                <a:solidFill>
                  <a:srgbClr val="000000"/>
                </a:solidFill>
                <a:latin typeface="Trebuchet MS Italics"/>
                <a:ea typeface="Trebuchet MS Italics"/>
                <a:cs typeface="Trebuchet MS Italics"/>
                <a:sym typeface="Trebuchet MS Italics"/>
              </a:rPr>
              <a:t>VeriVoice adds a voice authentication layer on top of existing national ID systems — a citizen enrolls once, then calls from any GSM keypad phone, speaks a challenge phrase, and a dual-gate check (voice biometric match on encrypted templates + speech transcription liveness) verifies their identity and authorises access to cash transfers, pension disbursements, and government wallet payments without a smartphone, internet, or literacy requirement.</a:t>
            </a:r>
          </a:p>
        </p:txBody>
      </p:sp>
      <p:sp>
        <p:nvSpPr>
          <p:cNvPr name="TextBox 29" id="29"/>
          <p:cNvSpPr txBox="true"/>
          <p:nvPr/>
        </p:nvSpPr>
        <p:spPr>
          <a:xfrm rot="0">
            <a:off x="-80660" y="6007240"/>
            <a:ext cx="18449319" cy="3256026"/>
          </a:xfrm>
          <a:prstGeom prst="rect">
            <a:avLst/>
          </a:prstGeom>
        </p:spPr>
        <p:txBody>
          <a:bodyPr anchor="t" rtlCol="false" tIns="0" lIns="0" bIns="0" rIns="0">
            <a:spAutoFit/>
          </a:bodyPr>
          <a:lstStyle/>
          <a:p>
            <a:pPr algn="l" marL="518162" indent="-259081" lvl="1">
              <a:lnSpc>
                <a:spcPts val="2592"/>
              </a:lnSpc>
              <a:buFont typeface="Arial"/>
              <a:buChar char="•"/>
            </a:pPr>
            <a:r>
              <a:rPr lang="en-US" b="true" sz="2400" i="true">
                <a:solidFill>
                  <a:srgbClr val="284181"/>
                </a:solidFill>
                <a:latin typeface="Trebuchet MS Bold Italics"/>
                <a:ea typeface="Trebuchet MS Bold Italics"/>
                <a:cs typeface="Trebuchet MS Bold Italics"/>
                <a:sym typeface="Trebuchet MS Bold Italics"/>
              </a:rPr>
              <a:t>VeriVoice does not create a new identity - it adds a voice interface to the national ID that already exists. During enrolment, a citizen's identity is verified against their national ID through MOSIP e-Signet (fully implemented in the codebase via OIDC, PKCE, and JWT validation) before any voice capture occurs. The resulting encrypted voice template is cryptographically bound to that verified national ID number, not stored as a standalone biometric.</a:t>
            </a:r>
          </a:p>
          <a:p>
            <a:pPr algn="l">
              <a:lnSpc>
                <a:spcPts val="2592"/>
              </a:lnSpc>
            </a:pPr>
          </a:p>
          <a:p>
            <a:pPr algn="l" marL="518162" indent="-259081" lvl="1">
              <a:lnSpc>
                <a:spcPts val="2592"/>
              </a:lnSpc>
              <a:buFont typeface="Arial"/>
              <a:buChar char="•"/>
            </a:pPr>
            <a:r>
              <a:rPr lang="en-US" b="true" sz="2400" i="true">
                <a:solidFill>
                  <a:srgbClr val="284181"/>
                </a:solidFill>
                <a:latin typeface="Trebuchet MS Bold Italics"/>
                <a:ea typeface="Trebuchet MS Bold Italics"/>
                <a:cs typeface="Trebuchet MS Bold Italics"/>
                <a:sym typeface="Trebuchet MS Bold Italics"/>
              </a:rPr>
              <a:t>Every authentication event resolves back to the national ID record. Every consent given generates an Ed25519-signed token carrying the citizen's ID, the ministry, the data scope, and a timestamp — purpose-limited, revocable, and auditable within the national DPI audit trail. Voice is simply the accessible interface through which the citizen exercises rights that are grounded in their Digital ID.</a:t>
            </a:r>
          </a:p>
          <a:p>
            <a:pPr algn="l">
              <a:lnSpc>
                <a:spcPts val="2592"/>
              </a:lnSpc>
            </a:pP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12416" y="395426"/>
            <a:ext cx="17092612" cy="1266549"/>
            <a:chOff x="0" y="0"/>
            <a:chExt cx="22790150" cy="1688732"/>
          </a:xfrm>
        </p:grpSpPr>
        <p:sp>
          <p:nvSpPr>
            <p:cNvPr name="Freeform 3" id="3"/>
            <p:cNvSpPr/>
            <p:nvPr/>
          </p:nvSpPr>
          <p:spPr>
            <a:xfrm flipH="false" flipV="false" rot="0">
              <a:off x="0" y="0"/>
              <a:ext cx="22790150" cy="1688719"/>
            </a:xfrm>
            <a:custGeom>
              <a:avLst/>
              <a:gdLst/>
              <a:ahLst/>
              <a:cxnLst/>
              <a:rect r="r" b="b" t="t" l="l"/>
              <a:pathLst>
                <a:path h="1688719" w="22790150">
                  <a:moveTo>
                    <a:pt x="0" y="0"/>
                  </a:moveTo>
                  <a:lnTo>
                    <a:pt x="22790150" y="0"/>
                  </a:lnTo>
                  <a:lnTo>
                    <a:pt x="22790150" y="1688719"/>
                  </a:lnTo>
                  <a:lnTo>
                    <a:pt x="0" y="1688719"/>
                  </a:lnTo>
                  <a:close/>
                </a:path>
              </a:pathLst>
            </a:custGeom>
            <a:solidFill>
              <a:srgbClr val="E6E7E8"/>
            </a:solidFill>
          </p:spPr>
        </p:sp>
      </p:grpSp>
      <p:sp>
        <p:nvSpPr>
          <p:cNvPr name="TextBox 4" id="4"/>
          <p:cNvSpPr txBox="true"/>
          <p:nvPr/>
        </p:nvSpPr>
        <p:spPr>
          <a:xfrm rot="0">
            <a:off x="3115304" y="665226"/>
            <a:ext cx="14068901" cy="745998"/>
          </a:xfrm>
          <a:prstGeom prst="rect">
            <a:avLst/>
          </a:prstGeom>
        </p:spPr>
        <p:txBody>
          <a:bodyPr anchor="t" rtlCol="false" tIns="0" lIns="0" bIns="0" rIns="0">
            <a:spAutoFit/>
          </a:bodyPr>
          <a:lstStyle/>
          <a:p>
            <a:pPr algn="l">
              <a:lnSpc>
                <a:spcPts val="2916"/>
              </a:lnSpc>
            </a:pPr>
            <a:r>
              <a:rPr lang="en-US" b="true" sz="2700" i="true">
                <a:solidFill>
                  <a:srgbClr val="5A5A5A"/>
                </a:solidFill>
                <a:latin typeface="Trebuchet MS Bold Italics"/>
                <a:ea typeface="Trebuchet MS Bold Italics"/>
                <a:cs typeface="Trebuchet MS Bold Italics"/>
                <a:sym typeface="Trebuchet MS Bold Italics"/>
              </a:rPr>
              <a:t>What will be the USP/ unique feature of your solution? Describe other key features of your solution, if any</a:t>
            </a:r>
          </a:p>
        </p:txBody>
      </p:sp>
      <p:grpSp>
        <p:nvGrpSpPr>
          <p:cNvPr name="Group 5" id="5"/>
          <p:cNvGrpSpPr/>
          <p:nvPr/>
        </p:nvGrpSpPr>
        <p:grpSpPr>
          <a:xfrm rot="-10800000">
            <a:off x="1143162" y="395426"/>
            <a:ext cx="1730912" cy="1634833"/>
            <a:chOff x="0" y="0"/>
            <a:chExt cx="2307882" cy="2179777"/>
          </a:xfrm>
        </p:grpSpPr>
        <p:sp>
          <p:nvSpPr>
            <p:cNvPr name="Freeform 6" id="6"/>
            <p:cNvSpPr/>
            <p:nvPr/>
          </p:nvSpPr>
          <p:spPr>
            <a:xfrm flipH="false" flipV="false" rot="0">
              <a:off x="0" y="0"/>
              <a:ext cx="2307844" cy="2179828"/>
            </a:xfrm>
            <a:custGeom>
              <a:avLst/>
              <a:gdLst/>
              <a:ahLst/>
              <a:cxnLst/>
              <a:rect r="r" b="b" t="t" l="l"/>
              <a:pathLst>
                <a:path h="2179828" w="2307844">
                  <a:moveTo>
                    <a:pt x="2307844" y="2179828"/>
                  </a:moveTo>
                  <a:lnTo>
                    <a:pt x="0" y="2179828"/>
                  </a:lnTo>
                  <a:lnTo>
                    <a:pt x="0" y="274574"/>
                  </a:lnTo>
                  <a:lnTo>
                    <a:pt x="1153922" y="0"/>
                  </a:lnTo>
                  <a:lnTo>
                    <a:pt x="2307844" y="274574"/>
                  </a:lnTo>
                  <a:close/>
                </a:path>
              </a:pathLst>
            </a:custGeom>
            <a:solidFill>
              <a:srgbClr val="5A5A5A"/>
            </a:solidFill>
          </p:spPr>
        </p:sp>
      </p:grpSp>
      <p:grpSp>
        <p:nvGrpSpPr>
          <p:cNvPr name="Group 7" id="7"/>
          <p:cNvGrpSpPr/>
          <p:nvPr/>
        </p:nvGrpSpPr>
        <p:grpSpPr>
          <a:xfrm rot="0">
            <a:off x="1312031" y="599780"/>
            <a:ext cx="1393174" cy="1226125"/>
            <a:chOff x="0" y="0"/>
            <a:chExt cx="1857565" cy="1634833"/>
          </a:xfrm>
        </p:grpSpPr>
        <p:sp>
          <p:nvSpPr>
            <p:cNvPr name="Freeform 8" id="8"/>
            <p:cNvSpPr/>
            <p:nvPr/>
          </p:nvSpPr>
          <p:spPr>
            <a:xfrm flipH="false" flipV="false" rot="0">
              <a:off x="0" y="0"/>
              <a:ext cx="1857502" cy="1634744"/>
            </a:xfrm>
            <a:custGeom>
              <a:avLst/>
              <a:gdLst/>
              <a:ahLst/>
              <a:cxnLst/>
              <a:rect r="r" b="b" t="t" l="l"/>
              <a:pathLst>
                <a:path h="1634744" w="1857502">
                  <a:moveTo>
                    <a:pt x="0" y="817372"/>
                  </a:moveTo>
                  <a:cubicBezTo>
                    <a:pt x="0" y="366014"/>
                    <a:pt x="415798" y="0"/>
                    <a:pt x="928751" y="0"/>
                  </a:cubicBezTo>
                  <a:cubicBezTo>
                    <a:pt x="1441704" y="0"/>
                    <a:pt x="1857502" y="366014"/>
                    <a:pt x="1857502" y="817372"/>
                  </a:cubicBezTo>
                  <a:cubicBezTo>
                    <a:pt x="1857502" y="1268730"/>
                    <a:pt x="1441704" y="1634744"/>
                    <a:pt x="928751" y="1634744"/>
                  </a:cubicBezTo>
                  <a:cubicBezTo>
                    <a:pt x="415798" y="1634744"/>
                    <a:pt x="0" y="1268857"/>
                    <a:pt x="0" y="817372"/>
                  </a:cubicBezTo>
                  <a:close/>
                </a:path>
              </a:pathLst>
            </a:custGeom>
            <a:solidFill>
              <a:srgbClr val="FFFFFF"/>
            </a:solidFill>
          </p:spPr>
        </p:sp>
        <p:sp>
          <p:nvSpPr>
            <p:cNvPr name="TextBox 9" id="9"/>
            <p:cNvSpPr txBox="true"/>
            <p:nvPr/>
          </p:nvSpPr>
          <p:spPr>
            <a:xfrm>
              <a:off x="0" y="-9525"/>
              <a:ext cx="1857565" cy="1644358"/>
            </a:xfrm>
            <a:prstGeom prst="rect">
              <a:avLst/>
            </a:prstGeom>
          </p:spPr>
          <p:txBody>
            <a:bodyPr anchor="ctr" rtlCol="false" tIns="50800" lIns="50800" bIns="50800" rIns="50800"/>
            <a:lstStyle/>
            <a:p>
              <a:pPr algn="ctr">
                <a:lnSpc>
                  <a:spcPts val="5040"/>
                </a:lnSpc>
              </a:pPr>
              <a:r>
                <a:rPr lang="en-US" b="true" sz="4200">
                  <a:solidFill>
                    <a:srgbClr val="5A5A5A"/>
                  </a:solidFill>
                  <a:latin typeface="Trebuchet MS Bold"/>
                  <a:ea typeface="Trebuchet MS Bold"/>
                  <a:cs typeface="Trebuchet MS Bold"/>
                  <a:sym typeface="Trebuchet MS Bold"/>
                </a:rPr>
                <a:t>03</a:t>
              </a:r>
            </a:p>
          </p:txBody>
        </p:sp>
      </p:grpSp>
      <p:grpSp>
        <p:nvGrpSpPr>
          <p:cNvPr name="Group 10" id="10"/>
          <p:cNvGrpSpPr/>
          <p:nvPr/>
        </p:nvGrpSpPr>
        <p:grpSpPr>
          <a:xfrm rot="0">
            <a:off x="597694" y="6509347"/>
            <a:ext cx="17092612" cy="1266549"/>
            <a:chOff x="0" y="0"/>
            <a:chExt cx="22790150" cy="1688732"/>
          </a:xfrm>
        </p:grpSpPr>
        <p:sp>
          <p:nvSpPr>
            <p:cNvPr name="Freeform 11" id="11"/>
            <p:cNvSpPr/>
            <p:nvPr/>
          </p:nvSpPr>
          <p:spPr>
            <a:xfrm flipH="false" flipV="false" rot="0">
              <a:off x="0" y="0"/>
              <a:ext cx="22790150" cy="1688719"/>
            </a:xfrm>
            <a:custGeom>
              <a:avLst/>
              <a:gdLst/>
              <a:ahLst/>
              <a:cxnLst/>
              <a:rect r="r" b="b" t="t" l="l"/>
              <a:pathLst>
                <a:path h="1688719" w="22790150">
                  <a:moveTo>
                    <a:pt x="0" y="0"/>
                  </a:moveTo>
                  <a:lnTo>
                    <a:pt x="22790150" y="0"/>
                  </a:lnTo>
                  <a:lnTo>
                    <a:pt x="22790150" y="1688719"/>
                  </a:lnTo>
                  <a:lnTo>
                    <a:pt x="0" y="1688719"/>
                  </a:lnTo>
                  <a:close/>
                </a:path>
              </a:pathLst>
            </a:custGeom>
            <a:solidFill>
              <a:srgbClr val="E6E7E8"/>
            </a:solidFill>
          </p:spPr>
        </p:sp>
      </p:grpSp>
      <p:sp>
        <p:nvSpPr>
          <p:cNvPr name="TextBox 12" id="12"/>
          <p:cNvSpPr txBox="true"/>
          <p:nvPr/>
        </p:nvSpPr>
        <p:spPr>
          <a:xfrm rot="0">
            <a:off x="3115304" y="7161671"/>
            <a:ext cx="14068901" cy="401936"/>
          </a:xfrm>
          <a:prstGeom prst="rect">
            <a:avLst/>
          </a:prstGeom>
        </p:spPr>
        <p:txBody>
          <a:bodyPr anchor="t" rtlCol="false" tIns="0" lIns="0" bIns="0" rIns="0">
            <a:spAutoFit/>
          </a:bodyPr>
          <a:lstStyle/>
          <a:p>
            <a:pPr algn="l">
              <a:lnSpc>
                <a:spcPts val="2916"/>
              </a:lnSpc>
            </a:pPr>
            <a:r>
              <a:rPr lang="en-US" b="true" sz="2700" i="true">
                <a:solidFill>
                  <a:srgbClr val="284181"/>
                </a:solidFill>
                <a:latin typeface="Trebuchet MS Bold Italics"/>
                <a:ea typeface="Trebuchet MS Bold Italics"/>
                <a:cs typeface="Trebuchet MS Bold Italics"/>
                <a:sym typeface="Trebuchet MS Bold Italics"/>
              </a:rPr>
              <a:t>What requirements must be met for the solution to be feasible?</a:t>
            </a:r>
          </a:p>
        </p:txBody>
      </p:sp>
      <p:grpSp>
        <p:nvGrpSpPr>
          <p:cNvPr name="Group 13" id="13"/>
          <p:cNvGrpSpPr/>
          <p:nvPr/>
        </p:nvGrpSpPr>
        <p:grpSpPr>
          <a:xfrm rot="-10800000">
            <a:off x="1028700" y="6543104"/>
            <a:ext cx="1730912" cy="1634833"/>
            <a:chOff x="0" y="0"/>
            <a:chExt cx="2307882" cy="2179777"/>
          </a:xfrm>
        </p:grpSpPr>
        <p:sp>
          <p:nvSpPr>
            <p:cNvPr name="Freeform 14" id="14"/>
            <p:cNvSpPr/>
            <p:nvPr/>
          </p:nvSpPr>
          <p:spPr>
            <a:xfrm flipH="false" flipV="false" rot="0">
              <a:off x="0" y="0"/>
              <a:ext cx="2307844" cy="2179828"/>
            </a:xfrm>
            <a:custGeom>
              <a:avLst/>
              <a:gdLst/>
              <a:ahLst/>
              <a:cxnLst/>
              <a:rect r="r" b="b" t="t" l="l"/>
              <a:pathLst>
                <a:path h="2179828" w="2307844">
                  <a:moveTo>
                    <a:pt x="2307844" y="2179828"/>
                  </a:moveTo>
                  <a:lnTo>
                    <a:pt x="0" y="2179828"/>
                  </a:lnTo>
                  <a:lnTo>
                    <a:pt x="0" y="274574"/>
                  </a:lnTo>
                  <a:lnTo>
                    <a:pt x="1153922" y="0"/>
                  </a:lnTo>
                  <a:lnTo>
                    <a:pt x="2307844" y="274574"/>
                  </a:lnTo>
                  <a:close/>
                </a:path>
              </a:pathLst>
            </a:custGeom>
            <a:solidFill>
              <a:srgbClr val="284181"/>
            </a:solidFill>
          </p:spPr>
        </p:sp>
      </p:grpSp>
      <p:grpSp>
        <p:nvGrpSpPr>
          <p:cNvPr name="Group 15" id="15"/>
          <p:cNvGrpSpPr/>
          <p:nvPr/>
        </p:nvGrpSpPr>
        <p:grpSpPr>
          <a:xfrm rot="0">
            <a:off x="1197569" y="6747458"/>
            <a:ext cx="1393174" cy="1226125"/>
            <a:chOff x="0" y="0"/>
            <a:chExt cx="1857565" cy="1634833"/>
          </a:xfrm>
        </p:grpSpPr>
        <p:sp>
          <p:nvSpPr>
            <p:cNvPr name="Freeform 16" id="16"/>
            <p:cNvSpPr/>
            <p:nvPr/>
          </p:nvSpPr>
          <p:spPr>
            <a:xfrm flipH="false" flipV="false" rot="0">
              <a:off x="0" y="0"/>
              <a:ext cx="1857502" cy="1634744"/>
            </a:xfrm>
            <a:custGeom>
              <a:avLst/>
              <a:gdLst/>
              <a:ahLst/>
              <a:cxnLst/>
              <a:rect r="r" b="b" t="t" l="l"/>
              <a:pathLst>
                <a:path h="1634744" w="1857502">
                  <a:moveTo>
                    <a:pt x="0" y="817372"/>
                  </a:moveTo>
                  <a:cubicBezTo>
                    <a:pt x="0" y="366014"/>
                    <a:pt x="415798" y="0"/>
                    <a:pt x="928751" y="0"/>
                  </a:cubicBezTo>
                  <a:cubicBezTo>
                    <a:pt x="1441704" y="0"/>
                    <a:pt x="1857502" y="366014"/>
                    <a:pt x="1857502" y="817372"/>
                  </a:cubicBezTo>
                  <a:cubicBezTo>
                    <a:pt x="1857502" y="1268730"/>
                    <a:pt x="1441704" y="1634744"/>
                    <a:pt x="928751" y="1634744"/>
                  </a:cubicBezTo>
                  <a:cubicBezTo>
                    <a:pt x="415798" y="1634744"/>
                    <a:pt x="0" y="1268857"/>
                    <a:pt x="0" y="817372"/>
                  </a:cubicBezTo>
                  <a:close/>
                </a:path>
              </a:pathLst>
            </a:custGeom>
            <a:solidFill>
              <a:srgbClr val="FFFFFF"/>
            </a:solidFill>
          </p:spPr>
        </p:sp>
        <p:sp>
          <p:nvSpPr>
            <p:cNvPr name="TextBox 17" id="17"/>
            <p:cNvSpPr txBox="true"/>
            <p:nvPr/>
          </p:nvSpPr>
          <p:spPr>
            <a:xfrm>
              <a:off x="0" y="-9525"/>
              <a:ext cx="1857565" cy="1644358"/>
            </a:xfrm>
            <a:prstGeom prst="rect">
              <a:avLst/>
            </a:prstGeom>
          </p:spPr>
          <p:txBody>
            <a:bodyPr anchor="ctr" rtlCol="false" tIns="50800" lIns="50800" bIns="50800" rIns="50800"/>
            <a:lstStyle/>
            <a:p>
              <a:pPr algn="ctr">
                <a:lnSpc>
                  <a:spcPts val="5040"/>
                </a:lnSpc>
              </a:pPr>
              <a:r>
                <a:rPr lang="en-US" b="true" sz="4200">
                  <a:solidFill>
                    <a:srgbClr val="284181"/>
                  </a:solidFill>
                  <a:latin typeface="Trebuchet MS Bold"/>
                  <a:ea typeface="Trebuchet MS Bold"/>
                  <a:cs typeface="Trebuchet MS Bold"/>
                  <a:sym typeface="Trebuchet MS Bold"/>
                </a:rPr>
                <a:t>04</a:t>
              </a:r>
            </a:p>
          </p:txBody>
        </p:sp>
      </p:grpSp>
      <p:sp>
        <p:nvSpPr>
          <p:cNvPr name="TextBox 18" id="18"/>
          <p:cNvSpPr txBox="true"/>
          <p:nvPr/>
        </p:nvSpPr>
        <p:spPr>
          <a:xfrm rot="0">
            <a:off x="742652" y="8419291"/>
            <a:ext cx="16230600" cy="1019175"/>
          </a:xfrm>
          <a:prstGeom prst="rect">
            <a:avLst/>
          </a:prstGeom>
        </p:spPr>
        <p:txBody>
          <a:bodyPr anchor="t" rtlCol="false" tIns="0" lIns="0" bIns="0" rIns="0">
            <a:spAutoFit/>
          </a:bodyPr>
          <a:lstStyle/>
          <a:p>
            <a:pPr algn="ctr">
              <a:lnSpc>
                <a:spcPts val="2649"/>
              </a:lnSpc>
              <a:spcBef>
                <a:spcPct val="0"/>
              </a:spcBef>
            </a:pPr>
            <a:r>
              <a:rPr lang="en-US" sz="2207" i="true" spc="-61">
                <a:solidFill>
                  <a:srgbClr val="000000"/>
                </a:solidFill>
                <a:latin typeface="Trebuchet MS Italics"/>
                <a:ea typeface="Trebuchet MS Italics"/>
                <a:cs typeface="Trebuchet MS Italics"/>
                <a:sym typeface="Trebuchet MS Italics"/>
              </a:rPr>
              <a:t>GSM network coverage (already exists across East Africa), national ID registry API access via MOSIP e-Signet for production enrollment, assisted registration centres for first-time voice capture, and MNO partnership agreements with Safaricom, Airtel, and MTN Uganda for short-code IVR integration.</a:t>
            </a:r>
          </a:p>
        </p:txBody>
      </p:sp>
      <p:sp>
        <p:nvSpPr>
          <p:cNvPr name="TextBox 19" id="19"/>
          <p:cNvSpPr txBox="true"/>
          <p:nvPr/>
        </p:nvSpPr>
        <p:spPr>
          <a:xfrm rot="0">
            <a:off x="0" y="2280247"/>
            <a:ext cx="18288000" cy="3352800"/>
          </a:xfrm>
          <a:prstGeom prst="rect">
            <a:avLst/>
          </a:prstGeom>
        </p:spPr>
        <p:txBody>
          <a:bodyPr anchor="t" rtlCol="false" tIns="0" lIns="0" bIns="0" rIns="0">
            <a:spAutoFit/>
          </a:bodyPr>
          <a:lstStyle/>
          <a:p>
            <a:pPr algn="l" marL="476607" indent="-238303" lvl="1">
              <a:lnSpc>
                <a:spcPts val="2649"/>
              </a:lnSpc>
              <a:buFont typeface="Arial"/>
              <a:buChar char="•"/>
            </a:pPr>
            <a:r>
              <a:rPr lang="en-US" sz="2207" i="true" spc="-61">
                <a:solidFill>
                  <a:srgbClr val="000000"/>
                </a:solidFill>
                <a:latin typeface="Trebuchet MS Italics"/>
                <a:ea typeface="Trebuchet MS Italics"/>
                <a:cs typeface="Trebuchet MS Italics"/>
                <a:sym typeface="Trebuchet MS Italics"/>
              </a:rPr>
              <a:t>Open DPI layer: Any government ministry or humanitarian organisation can integrate it, not locked to a single telco.</a:t>
            </a:r>
          </a:p>
          <a:p>
            <a:pPr algn="l" marL="476607" indent="-238303" lvl="1">
              <a:lnSpc>
                <a:spcPts val="2649"/>
              </a:lnSpc>
              <a:buFont typeface="Arial"/>
              <a:buChar char="•"/>
            </a:pPr>
            <a:r>
              <a:rPr lang="en-US" sz="2207" i="true" spc="-61">
                <a:solidFill>
                  <a:srgbClr val="000000"/>
                </a:solidFill>
                <a:latin typeface="Trebuchet MS Italics"/>
                <a:ea typeface="Trebuchet MS Italics"/>
                <a:cs typeface="Trebuchet MS Italics"/>
                <a:sym typeface="Trebuchet MS Italics"/>
              </a:rPr>
              <a:t>National ID anchored: Voice is cryptographically bound to the citizen's existing national ID via MOSIP e-Signet, not a standalone biometric database.</a:t>
            </a:r>
          </a:p>
          <a:p>
            <a:pPr algn="l" marL="476607" indent="-238303" lvl="1">
              <a:lnSpc>
                <a:spcPts val="2649"/>
              </a:lnSpc>
              <a:buFont typeface="Arial"/>
              <a:buChar char="•"/>
            </a:pPr>
            <a:r>
              <a:rPr lang="en-US" sz="2207" i="true" spc="-61">
                <a:solidFill>
                  <a:srgbClr val="000000"/>
                </a:solidFill>
                <a:latin typeface="Trebuchet MS Italics"/>
                <a:ea typeface="Trebuchet MS Italics"/>
                <a:cs typeface="Trebuchet MS Italics"/>
                <a:sym typeface="Trebuchet MS Italics"/>
              </a:rPr>
              <a:t>Privacy-preserving matching: Voice matching runs on homomorphically encrypted templates so the server never sees the enrolled voiceprint, even during verification.</a:t>
            </a:r>
          </a:p>
          <a:p>
            <a:pPr algn="l" marL="476607" indent="-238303" lvl="1">
              <a:lnSpc>
                <a:spcPts val="2649"/>
              </a:lnSpc>
              <a:buFont typeface="Arial"/>
              <a:buChar char="•"/>
            </a:pPr>
            <a:r>
              <a:rPr lang="en-US" sz="2207" i="true" spc="-61">
                <a:solidFill>
                  <a:srgbClr val="000000"/>
                </a:solidFill>
                <a:latin typeface="Trebuchet MS Italics"/>
                <a:ea typeface="Trebuchet MS Italics"/>
                <a:cs typeface="Trebuchet MS Italics"/>
                <a:sym typeface="Trebuchet MS Italics"/>
              </a:rPr>
              <a:t>Auditable consent tokens: Every authentication generates an Ed25519-signed, purpose-limited consent token that is fully auditable and revocable by the citizen.</a:t>
            </a:r>
          </a:p>
          <a:p>
            <a:pPr algn="l" marL="476607" indent="-238303" lvl="1">
              <a:lnSpc>
                <a:spcPts val="2649"/>
              </a:lnSpc>
              <a:buFont typeface="Arial"/>
              <a:buChar char="•"/>
            </a:pPr>
            <a:r>
              <a:rPr lang="en-US" sz="2207" i="true" spc="-61">
                <a:solidFill>
                  <a:srgbClr val="000000"/>
                </a:solidFill>
                <a:latin typeface="Trebuchet MS Italics"/>
                <a:ea typeface="Trebuchet MS Italics"/>
                <a:cs typeface="Trebuchet MS Italics"/>
                <a:sym typeface="Trebuchet MS Italics"/>
              </a:rPr>
              <a:t>Any GSM phone: The entire flow runs over a regular phone call with no smartphone, internet, or literacy required.</a:t>
            </a:r>
          </a:p>
          <a:p>
            <a:pPr algn="l" marL="476607" indent="-238303" lvl="1">
              <a:lnSpc>
                <a:spcPts val="2649"/>
              </a:lnSpc>
              <a:buFont typeface="Arial"/>
              <a:buChar char="•"/>
            </a:pPr>
            <a:r>
              <a:rPr lang="en-US" sz="2207" i="true" spc="-61">
                <a:solidFill>
                  <a:srgbClr val="000000"/>
                </a:solidFill>
                <a:latin typeface="Trebuchet MS Italics"/>
                <a:ea typeface="Trebuchet MS Italics"/>
                <a:cs typeface="Trebuchet MS Italics"/>
                <a:sym typeface="Trebuchet MS Italics"/>
              </a:rPr>
              <a:t>Dual-gate liveness: Authentication requires both a voice biometric match and correct phrase transcription, preventing replay attacks.</a:t>
            </a:r>
          </a:p>
          <a:p>
            <a:pPr algn="l" marL="476607" indent="-238303" lvl="1">
              <a:lnSpc>
                <a:spcPts val="2649"/>
              </a:lnSpc>
              <a:buFont typeface="Arial"/>
              <a:buChar char="•"/>
            </a:pPr>
            <a:r>
              <a:rPr lang="en-US" sz="2207" i="true" spc="-61">
                <a:solidFill>
                  <a:srgbClr val="000000"/>
                </a:solidFill>
                <a:latin typeface="Trebuchet MS Italics"/>
                <a:ea typeface="Trebuchet MS Italics"/>
                <a:cs typeface="Trebuchet MS Italics"/>
                <a:sym typeface="Trebuchet MS Italics"/>
              </a:rPr>
              <a:t>Bilingual: English and Swahili supported natively with language-specific ASR models already deployed.</a:t>
            </a:r>
          </a:p>
          <a:p>
            <a:pPr algn="l">
              <a:lnSpc>
                <a:spcPts val="2649"/>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140">
            <a:off x="654872" y="9575359"/>
            <a:ext cx="11852405" cy="0"/>
          </a:xfrm>
          <a:prstGeom prst="line">
            <a:avLst/>
          </a:prstGeom>
          <a:ln cap="rnd" w="9525">
            <a:solidFill>
              <a:srgbClr val="284181"/>
            </a:solidFill>
            <a:prstDash val="solid"/>
            <a:headEnd type="none" len="sm" w="sm"/>
            <a:tailEnd type="none" len="sm" w="sm"/>
          </a:ln>
        </p:spPr>
      </p:sp>
      <p:sp>
        <p:nvSpPr>
          <p:cNvPr name="AutoShape 3" id="3"/>
          <p:cNvSpPr/>
          <p:nvPr/>
        </p:nvSpPr>
        <p:spPr>
          <a:xfrm rot="10020">
            <a:off x="12686767" y="9575359"/>
            <a:ext cx="4889106" cy="0"/>
          </a:xfrm>
          <a:prstGeom prst="line">
            <a:avLst/>
          </a:prstGeom>
          <a:ln cap="rnd" w="9525">
            <a:solidFill>
              <a:srgbClr val="00BFDF"/>
            </a:solidFill>
            <a:prstDash val="solid"/>
            <a:headEnd type="none" len="sm" w="sm"/>
            <a:tailEnd type="none" len="sm" w="sm"/>
          </a:ln>
        </p:spPr>
      </p:sp>
      <p:sp>
        <p:nvSpPr>
          <p:cNvPr name="TextBox 4" id="4"/>
          <p:cNvSpPr txBox="true"/>
          <p:nvPr/>
        </p:nvSpPr>
        <p:spPr>
          <a:xfrm rot="0">
            <a:off x="603371" y="373380"/>
            <a:ext cx="16928840" cy="433959"/>
          </a:xfrm>
          <a:prstGeom prst="rect">
            <a:avLst/>
          </a:prstGeom>
        </p:spPr>
        <p:txBody>
          <a:bodyPr anchor="t" rtlCol="false" tIns="0" lIns="0" bIns="0" rIns="0">
            <a:spAutoFit/>
          </a:bodyPr>
          <a:lstStyle/>
          <a:p>
            <a:pPr algn="l">
              <a:lnSpc>
                <a:spcPts val="3240"/>
              </a:lnSpc>
            </a:pPr>
            <a:r>
              <a:rPr lang="en-US" sz="3000" b="true">
                <a:solidFill>
                  <a:srgbClr val="284181"/>
                </a:solidFill>
                <a:latin typeface="Trebuchet MS Bold"/>
                <a:ea typeface="Trebuchet MS Bold"/>
                <a:cs typeface="Trebuchet MS Bold"/>
                <a:sym typeface="Trebuchet MS Bold"/>
              </a:rPr>
              <a:t>Information flow (Technical)</a:t>
            </a:r>
          </a:p>
        </p:txBody>
      </p:sp>
      <p:grpSp>
        <p:nvGrpSpPr>
          <p:cNvPr name="Group 5" id="5"/>
          <p:cNvGrpSpPr/>
          <p:nvPr/>
        </p:nvGrpSpPr>
        <p:grpSpPr>
          <a:xfrm rot="0">
            <a:off x="15381513" y="2686"/>
            <a:ext cx="2913736" cy="522989"/>
            <a:chOff x="0" y="0"/>
            <a:chExt cx="3884981" cy="697319"/>
          </a:xfrm>
        </p:grpSpPr>
        <p:sp>
          <p:nvSpPr>
            <p:cNvPr name="Freeform 6" id="6"/>
            <p:cNvSpPr/>
            <p:nvPr/>
          </p:nvSpPr>
          <p:spPr>
            <a:xfrm flipH="false" flipV="false" rot="0">
              <a:off x="0" y="0"/>
              <a:ext cx="3884930" cy="697357"/>
            </a:xfrm>
            <a:custGeom>
              <a:avLst/>
              <a:gdLst/>
              <a:ahLst/>
              <a:cxnLst/>
              <a:rect r="r" b="b" t="t" l="l"/>
              <a:pathLst>
                <a:path h="697357" w="3884930">
                  <a:moveTo>
                    <a:pt x="0" y="0"/>
                  </a:moveTo>
                  <a:lnTo>
                    <a:pt x="3884930" y="0"/>
                  </a:lnTo>
                  <a:lnTo>
                    <a:pt x="3884930" y="697357"/>
                  </a:lnTo>
                  <a:lnTo>
                    <a:pt x="0" y="697357"/>
                  </a:lnTo>
                  <a:close/>
                </a:path>
              </a:pathLst>
            </a:custGeom>
            <a:solidFill>
              <a:srgbClr val="F79333"/>
            </a:solidFill>
          </p:spPr>
        </p:sp>
        <p:sp>
          <p:nvSpPr>
            <p:cNvPr name="TextBox 7" id="7"/>
            <p:cNvSpPr txBox="true"/>
            <p:nvPr/>
          </p:nvSpPr>
          <p:spPr>
            <a:xfrm>
              <a:off x="0" y="-9525"/>
              <a:ext cx="3884981" cy="706844"/>
            </a:xfrm>
            <a:prstGeom prst="rect">
              <a:avLst/>
            </a:prstGeom>
          </p:spPr>
          <p:txBody>
            <a:bodyPr anchor="ctr" rtlCol="false" tIns="50800" lIns="50800" bIns="50800" rIns="50800"/>
            <a:lstStyle/>
            <a:p>
              <a:pPr algn="ctr">
                <a:lnSpc>
                  <a:spcPts val="3240"/>
                </a:lnSpc>
              </a:pPr>
              <a:r>
                <a:rPr lang="en-US" sz="2700">
                  <a:solidFill>
                    <a:srgbClr val="FFFFFF"/>
                  </a:solidFill>
                  <a:latin typeface="Trebuchet MS"/>
                  <a:ea typeface="Trebuchet MS"/>
                  <a:cs typeface="Trebuchet MS"/>
                  <a:sym typeface="Trebuchet MS"/>
                </a:rPr>
                <a:t>Time: 1 min</a:t>
              </a:r>
            </a:p>
          </p:txBody>
        </p:sp>
      </p:grpSp>
      <p:sp>
        <p:nvSpPr>
          <p:cNvPr name="TextBox 8" id="8"/>
          <p:cNvSpPr txBox="true"/>
          <p:nvPr/>
        </p:nvSpPr>
        <p:spPr>
          <a:xfrm rot="0">
            <a:off x="681361" y="9781699"/>
            <a:ext cx="960149" cy="273901"/>
          </a:xfrm>
          <a:prstGeom prst="rect">
            <a:avLst/>
          </a:prstGeom>
        </p:spPr>
        <p:txBody>
          <a:bodyPr anchor="t" rtlCol="false" tIns="0" lIns="0" bIns="0" rIns="0">
            <a:spAutoFit/>
          </a:bodyPr>
          <a:lstStyle/>
          <a:p>
            <a:pPr algn="l">
              <a:lnSpc>
                <a:spcPts val="1620"/>
              </a:lnSpc>
            </a:pPr>
            <a:r>
              <a:rPr lang="en-US" sz="1350">
                <a:solidFill>
                  <a:srgbClr val="595959"/>
                </a:solidFill>
                <a:latin typeface="Trebuchet MS"/>
                <a:ea typeface="Trebuchet MS"/>
                <a:cs typeface="Trebuchet MS"/>
                <a:sym typeface="Trebuchet MS"/>
              </a:rPr>
              <a:t>‹#›</a:t>
            </a:r>
          </a:p>
        </p:txBody>
      </p:sp>
      <p:sp>
        <p:nvSpPr>
          <p:cNvPr name="TextBox 9" id="9"/>
          <p:cNvSpPr txBox="true"/>
          <p:nvPr/>
        </p:nvSpPr>
        <p:spPr>
          <a:xfrm rot="0">
            <a:off x="5261715" y="9851822"/>
            <a:ext cx="7764570" cy="203778"/>
          </a:xfrm>
          <a:prstGeom prst="rect">
            <a:avLst/>
          </a:prstGeom>
        </p:spPr>
        <p:txBody>
          <a:bodyPr anchor="t" rtlCol="false" tIns="0" lIns="0" bIns="0" rIns="0">
            <a:spAutoFit/>
          </a:bodyPr>
          <a:lstStyle/>
          <a:p>
            <a:pPr algn="ctr">
              <a:lnSpc>
                <a:spcPts val="1296"/>
              </a:lnSpc>
            </a:pPr>
            <a:r>
              <a:rPr lang="en-US" sz="1200">
                <a:solidFill>
                  <a:srgbClr val="595959"/>
                </a:solidFill>
                <a:latin typeface="Trebuchet MS"/>
                <a:ea typeface="Trebuchet MS"/>
                <a:cs typeface="Trebuchet MS"/>
                <a:sym typeface="Trebuchet MS"/>
              </a:rPr>
              <a:t> All rights reserved. This document is proprietary and confidential.</a:t>
            </a:r>
          </a:p>
        </p:txBody>
      </p:sp>
      <p:sp>
        <p:nvSpPr>
          <p:cNvPr name="TextBox 10" id="10"/>
          <p:cNvSpPr txBox="true"/>
          <p:nvPr/>
        </p:nvSpPr>
        <p:spPr>
          <a:xfrm rot="0">
            <a:off x="632819" y="1317425"/>
            <a:ext cx="7423993" cy="7610475"/>
          </a:xfrm>
          <a:prstGeom prst="rect">
            <a:avLst/>
          </a:prstGeom>
        </p:spPr>
        <p:txBody>
          <a:bodyPr anchor="t" rtlCol="false" tIns="0" lIns="0" bIns="0" rIns="0">
            <a:spAutoFit/>
          </a:bodyPr>
          <a:lstStyle/>
          <a:p>
            <a:pPr algn="ctr">
              <a:lnSpc>
                <a:spcPts val="2853"/>
              </a:lnSpc>
              <a:spcBef>
                <a:spcPct val="0"/>
              </a:spcBef>
            </a:pPr>
            <a:r>
              <a:rPr lang="en-US" b="true" sz="2378">
                <a:solidFill>
                  <a:srgbClr val="000000"/>
                </a:solidFill>
                <a:latin typeface="Trebuchet MS Bold"/>
                <a:ea typeface="Trebuchet MS Bold"/>
                <a:cs typeface="Trebuchet MS Bold"/>
                <a:sym typeface="Trebuchet MS Bold"/>
              </a:rPr>
              <a:t>Tech Stack</a:t>
            </a:r>
          </a:p>
          <a:p>
            <a:pPr algn="l" marL="513446" indent="-256723" lvl="1">
              <a:lnSpc>
                <a:spcPts val="2853"/>
              </a:lnSpc>
              <a:buFont typeface="Arial"/>
              <a:buChar char="•"/>
            </a:pPr>
            <a:r>
              <a:rPr lang="en-US" sz="2378">
                <a:solidFill>
                  <a:srgbClr val="000000"/>
                </a:solidFill>
                <a:latin typeface="Trebuchet MS"/>
                <a:ea typeface="Trebuchet MS"/>
                <a:cs typeface="Trebuchet MS"/>
                <a:sym typeface="Trebuchet MS"/>
              </a:rPr>
              <a:t>Core Language: Python 3.10+</a:t>
            </a:r>
          </a:p>
          <a:p>
            <a:pPr algn="l" marL="513446" indent="-256723" lvl="1">
              <a:lnSpc>
                <a:spcPts val="2853"/>
              </a:lnSpc>
              <a:buFont typeface="Arial"/>
              <a:buChar char="•"/>
            </a:pPr>
            <a:r>
              <a:rPr lang="en-US" sz="2378">
                <a:solidFill>
                  <a:srgbClr val="000000"/>
                </a:solidFill>
                <a:latin typeface="Trebuchet MS"/>
                <a:ea typeface="Trebuchet MS"/>
                <a:cs typeface="Trebuchet MS"/>
                <a:sym typeface="Trebuchet MS"/>
              </a:rPr>
              <a:t>Web Framework: FastAPI + Uvicorn</a:t>
            </a:r>
          </a:p>
          <a:p>
            <a:pPr algn="l" marL="513446" indent="-256723" lvl="1">
              <a:lnSpc>
                <a:spcPts val="2853"/>
              </a:lnSpc>
              <a:buFont typeface="Arial"/>
              <a:buChar char="•"/>
            </a:pPr>
            <a:r>
              <a:rPr lang="en-US" sz="2378">
                <a:solidFill>
                  <a:srgbClr val="000000"/>
                </a:solidFill>
                <a:latin typeface="Trebuchet MS"/>
                <a:ea typeface="Trebuchet MS"/>
                <a:cs typeface="Trebuchet MS"/>
                <a:sym typeface="Trebuchet MS"/>
              </a:rPr>
              <a:t>Frontend (Primary): Twilio Voice API / IVR</a:t>
            </a:r>
          </a:p>
          <a:p>
            <a:pPr algn="l" marL="513446" indent="-256723" lvl="1">
              <a:lnSpc>
                <a:spcPts val="2853"/>
              </a:lnSpc>
              <a:buFont typeface="Arial"/>
              <a:buChar char="•"/>
            </a:pPr>
            <a:r>
              <a:rPr lang="en-US" sz="2378">
                <a:solidFill>
                  <a:srgbClr val="000000"/>
                </a:solidFill>
                <a:latin typeface="Trebuchet MS"/>
                <a:ea typeface="Trebuchet MS"/>
                <a:cs typeface="Trebuchet MS"/>
                <a:sym typeface="Trebuchet MS"/>
              </a:rPr>
              <a:t>Frontend (Secondary): Streamlit</a:t>
            </a:r>
          </a:p>
          <a:p>
            <a:pPr algn="l" marL="513446" indent="-256723" lvl="1">
              <a:lnSpc>
                <a:spcPts val="2853"/>
              </a:lnSpc>
              <a:buFont typeface="Arial"/>
              <a:buChar char="•"/>
            </a:pPr>
            <a:r>
              <a:rPr lang="en-US" sz="2378">
                <a:solidFill>
                  <a:srgbClr val="000000"/>
                </a:solidFill>
                <a:latin typeface="Trebuchet MS"/>
                <a:ea typeface="Trebuchet MS"/>
                <a:cs typeface="Trebuchet MS"/>
                <a:sym typeface="Trebuchet MS"/>
              </a:rPr>
              <a:t>Speaker Verification: ECAPA-TDNN via SpeechBrain</a:t>
            </a:r>
          </a:p>
          <a:p>
            <a:pPr algn="l" marL="513446" indent="-256723" lvl="1">
              <a:lnSpc>
                <a:spcPts val="2853"/>
              </a:lnSpc>
              <a:buFont typeface="Arial"/>
              <a:buChar char="•"/>
            </a:pPr>
            <a:r>
              <a:rPr lang="en-US" sz="2378">
                <a:solidFill>
                  <a:srgbClr val="000000"/>
                </a:solidFill>
                <a:latin typeface="Trebuchet MS"/>
                <a:ea typeface="Trebuchet MS"/>
                <a:cs typeface="Trebuchet MS"/>
                <a:sym typeface="Trebuchet MS"/>
              </a:rPr>
              <a:t>ASR - English: OpenAI Whisper large-v3</a:t>
            </a:r>
          </a:p>
          <a:p>
            <a:pPr algn="l" marL="513446" indent="-256723" lvl="1">
              <a:lnSpc>
                <a:spcPts val="2853"/>
              </a:lnSpc>
              <a:buFont typeface="Arial"/>
              <a:buChar char="•"/>
            </a:pPr>
            <a:r>
              <a:rPr lang="en-US" sz="2378">
                <a:solidFill>
                  <a:srgbClr val="000000"/>
                </a:solidFill>
                <a:latin typeface="Trebuchet MS"/>
                <a:ea typeface="Trebuchet MS"/>
                <a:cs typeface="Trebuchet MS"/>
                <a:sym typeface="Trebuchet MS"/>
              </a:rPr>
              <a:t>ASR - Swahili: badrex/w2v-bert-2.0-swahili</a:t>
            </a:r>
          </a:p>
          <a:p>
            <a:pPr algn="l" marL="513446" indent="-256723" lvl="1">
              <a:lnSpc>
                <a:spcPts val="2853"/>
              </a:lnSpc>
              <a:buFont typeface="Arial"/>
              <a:buChar char="•"/>
            </a:pPr>
            <a:r>
              <a:rPr lang="en-US" sz="2378">
                <a:solidFill>
                  <a:srgbClr val="000000"/>
                </a:solidFill>
                <a:latin typeface="Trebuchet MS"/>
                <a:ea typeface="Trebuchet MS"/>
                <a:cs typeface="Trebuchet MS"/>
                <a:sym typeface="Trebuchet MS"/>
              </a:rPr>
              <a:t>Text-to-Speech: gTTS</a:t>
            </a:r>
          </a:p>
          <a:p>
            <a:pPr algn="l" marL="513446" indent="-256723" lvl="1">
              <a:lnSpc>
                <a:spcPts val="2853"/>
              </a:lnSpc>
              <a:buFont typeface="Arial"/>
              <a:buChar char="•"/>
            </a:pPr>
            <a:r>
              <a:rPr lang="en-US" sz="2378">
                <a:solidFill>
                  <a:srgbClr val="000000"/>
                </a:solidFill>
                <a:latin typeface="Trebuchet MS"/>
                <a:ea typeface="Trebuchet MS"/>
                <a:cs typeface="Trebuchet MS"/>
                <a:sym typeface="Trebuchet MS"/>
              </a:rPr>
              <a:t>Homomorphic Encryption: python-paillier</a:t>
            </a:r>
          </a:p>
          <a:p>
            <a:pPr algn="l" marL="513446" indent="-256723" lvl="1">
              <a:lnSpc>
                <a:spcPts val="2853"/>
              </a:lnSpc>
              <a:buFont typeface="Arial"/>
              <a:buChar char="•"/>
            </a:pPr>
            <a:r>
              <a:rPr lang="en-US" sz="2378">
                <a:solidFill>
                  <a:srgbClr val="000000"/>
                </a:solidFill>
                <a:latin typeface="Trebuchet MS"/>
                <a:ea typeface="Trebuchet MS"/>
                <a:cs typeface="Trebuchet MS"/>
                <a:sym typeface="Trebuchet MS"/>
              </a:rPr>
              <a:t>Digital Signatures: PyNaCl (Ed25519)</a:t>
            </a:r>
          </a:p>
          <a:p>
            <a:pPr algn="l" marL="513446" indent="-256723" lvl="1">
              <a:lnSpc>
                <a:spcPts val="2853"/>
              </a:lnSpc>
              <a:buFont typeface="Arial"/>
              <a:buChar char="•"/>
            </a:pPr>
            <a:r>
              <a:rPr lang="en-US" sz="2378">
                <a:solidFill>
                  <a:srgbClr val="000000"/>
                </a:solidFill>
                <a:latin typeface="Trebuchet MS"/>
                <a:ea typeface="Trebuchet MS"/>
                <a:cs typeface="Trebuchet MS"/>
                <a:sym typeface="Trebuchet MS"/>
              </a:rPr>
              <a:t>Identity Verification: MOSIP e-Signet (OIDC)</a:t>
            </a:r>
          </a:p>
          <a:p>
            <a:pPr algn="l" marL="513446" indent="-256723" lvl="1">
              <a:lnSpc>
                <a:spcPts val="2853"/>
              </a:lnSpc>
              <a:buFont typeface="Arial"/>
              <a:buChar char="•"/>
            </a:pPr>
            <a:r>
              <a:rPr lang="en-US" sz="2378">
                <a:solidFill>
                  <a:srgbClr val="000000"/>
                </a:solidFill>
                <a:latin typeface="Trebuchet MS"/>
                <a:ea typeface="Trebuchet MS"/>
                <a:cs typeface="Trebuchet MS"/>
                <a:sym typeface="Trebuchet MS"/>
              </a:rPr>
              <a:t>OIDC Client Auth: Authlib + python-jose</a:t>
            </a:r>
          </a:p>
          <a:p>
            <a:pPr algn="l" marL="513446" indent="-256723" lvl="1">
              <a:lnSpc>
                <a:spcPts val="2853"/>
              </a:lnSpc>
              <a:buFont typeface="Arial"/>
              <a:buChar char="•"/>
            </a:pPr>
            <a:r>
              <a:rPr lang="en-US" sz="2378">
                <a:solidFill>
                  <a:srgbClr val="000000"/>
                </a:solidFill>
                <a:latin typeface="Trebuchet MS"/>
                <a:ea typeface="Trebuchet MS"/>
                <a:cs typeface="Trebuchet MS"/>
                <a:sym typeface="Trebuchet MS"/>
              </a:rPr>
              <a:t>JWT Validation: PyJWT</a:t>
            </a:r>
          </a:p>
          <a:p>
            <a:pPr algn="l" marL="513446" indent="-256723" lvl="1">
              <a:lnSpc>
                <a:spcPts val="2853"/>
              </a:lnSpc>
              <a:buFont typeface="Arial"/>
              <a:buChar char="•"/>
            </a:pPr>
            <a:r>
              <a:rPr lang="en-US" sz="2378">
                <a:solidFill>
                  <a:srgbClr val="000000"/>
                </a:solidFill>
                <a:latin typeface="Trebuchet MS"/>
                <a:ea typeface="Trebuchet MS"/>
                <a:cs typeface="Trebuchet MS"/>
                <a:sym typeface="Trebuchet MS"/>
              </a:rPr>
              <a:t>Database: SQLite + SQLAlchemy</a:t>
            </a:r>
          </a:p>
          <a:p>
            <a:pPr algn="l" marL="513446" indent="-256723" lvl="1">
              <a:lnSpc>
                <a:spcPts val="2853"/>
              </a:lnSpc>
              <a:buFont typeface="Arial"/>
              <a:buChar char="•"/>
            </a:pPr>
            <a:r>
              <a:rPr lang="en-US" sz="2378">
                <a:solidFill>
                  <a:srgbClr val="000000"/>
                </a:solidFill>
                <a:latin typeface="Trebuchet MS"/>
                <a:ea typeface="Trebuchet MS"/>
                <a:cs typeface="Trebuchet MS"/>
                <a:sym typeface="Trebuchet MS"/>
              </a:rPr>
              <a:t>Migrations: Alembic</a:t>
            </a:r>
          </a:p>
          <a:p>
            <a:pPr algn="l" marL="513446" indent="-256723" lvl="1">
              <a:lnSpc>
                <a:spcPts val="2853"/>
              </a:lnSpc>
              <a:buFont typeface="Arial"/>
              <a:buChar char="•"/>
            </a:pPr>
            <a:r>
              <a:rPr lang="en-US" sz="2378">
                <a:solidFill>
                  <a:srgbClr val="000000"/>
                </a:solidFill>
                <a:latin typeface="Trebuchet MS"/>
                <a:ea typeface="Trebuchet MS"/>
                <a:cs typeface="Trebuchet MS"/>
                <a:sym typeface="Trebuchet MS"/>
              </a:rPr>
              <a:t>Caching/Session: Redis</a:t>
            </a:r>
          </a:p>
          <a:p>
            <a:pPr algn="l" marL="513446" indent="-256723" lvl="1">
              <a:lnSpc>
                <a:spcPts val="2853"/>
              </a:lnSpc>
              <a:buFont typeface="Arial"/>
              <a:buChar char="•"/>
            </a:pPr>
            <a:r>
              <a:rPr lang="en-US" sz="2378">
                <a:solidFill>
                  <a:srgbClr val="000000"/>
                </a:solidFill>
                <a:latin typeface="Trebuchet MS"/>
                <a:ea typeface="Trebuchet MS"/>
                <a:cs typeface="Trebuchet MS"/>
                <a:sym typeface="Trebuchet MS"/>
              </a:rPr>
              <a:t>Audio Processing: librosa, scipy, numpy, torchaudio</a:t>
            </a:r>
          </a:p>
          <a:p>
            <a:pPr algn="l" marL="513446" indent="-256723" lvl="1">
              <a:lnSpc>
                <a:spcPts val="2853"/>
              </a:lnSpc>
              <a:buFont typeface="Arial"/>
              <a:buChar char="•"/>
            </a:pPr>
            <a:r>
              <a:rPr lang="en-US" sz="2378">
                <a:solidFill>
                  <a:srgbClr val="000000"/>
                </a:solidFill>
                <a:latin typeface="Trebuchet MS"/>
                <a:ea typeface="Trebuchet MS"/>
                <a:cs typeface="Trebuchet MS"/>
                <a:sym typeface="Trebuchet MS"/>
              </a:rPr>
              <a:t>ML Runtime: PyTorch</a:t>
            </a:r>
          </a:p>
          <a:p>
            <a:pPr algn="l" marL="513446" indent="-256723" lvl="1">
              <a:lnSpc>
                <a:spcPts val="2853"/>
              </a:lnSpc>
              <a:buFont typeface="Arial"/>
              <a:buChar char="•"/>
            </a:pPr>
            <a:r>
              <a:rPr lang="en-US" sz="2378">
                <a:solidFill>
                  <a:srgbClr val="000000"/>
                </a:solidFill>
                <a:latin typeface="Trebuchet MS"/>
                <a:ea typeface="Trebuchet MS"/>
                <a:cs typeface="Trebuchet MS"/>
                <a:sym typeface="Trebuchet MS"/>
              </a:rPr>
              <a:t>HTTP Client: httpx</a:t>
            </a:r>
          </a:p>
          <a:p>
            <a:pPr algn="l" marL="513446" indent="-256723" lvl="1">
              <a:lnSpc>
                <a:spcPts val="2853"/>
              </a:lnSpc>
              <a:buFont typeface="Arial"/>
              <a:buChar char="•"/>
            </a:pPr>
            <a:r>
              <a:rPr lang="en-US" sz="2378">
                <a:solidFill>
                  <a:srgbClr val="000000"/>
                </a:solidFill>
                <a:latin typeface="Trebuchet MS"/>
                <a:ea typeface="Trebuchet MS"/>
                <a:cs typeface="Trebuchet MS"/>
                <a:sym typeface="Trebuchet MS"/>
              </a:rPr>
              <a:t>Infrastructure: Local server </a:t>
            </a:r>
          </a:p>
        </p:txBody>
      </p:sp>
      <p:sp>
        <p:nvSpPr>
          <p:cNvPr name="TextBox 11" id="11"/>
          <p:cNvSpPr txBox="true"/>
          <p:nvPr/>
        </p:nvSpPr>
        <p:spPr>
          <a:xfrm rot="0">
            <a:off x="8722805" y="428625"/>
            <a:ext cx="9241007" cy="8829675"/>
          </a:xfrm>
          <a:prstGeom prst="rect">
            <a:avLst/>
          </a:prstGeom>
        </p:spPr>
        <p:txBody>
          <a:bodyPr anchor="t" rtlCol="false" tIns="0" lIns="0" bIns="0" rIns="0">
            <a:spAutoFit/>
          </a:bodyPr>
          <a:lstStyle/>
          <a:p>
            <a:pPr algn="ctr">
              <a:lnSpc>
                <a:spcPts val="2685"/>
              </a:lnSpc>
              <a:spcBef>
                <a:spcPct val="0"/>
              </a:spcBef>
            </a:pPr>
            <a:r>
              <a:rPr lang="en-US" b="true" sz="2237">
                <a:solidFill>
                  <a:srgbClr val="000000"/>
                </a:solidFill>
                <a:latin typeface="Trebuchet MS Bold"/>
                <a:ea typeface="Trebuchet MS Bold"/>
                <a:cs typeface="Trebuchet MS Bold"/>
                <a:sym typeface="Trebuchet MS Bold"/>
              </a:rPr>
              <a:t>Key Tools &amp; Libraries (Complete List)</a:t>
            </a:r>
          </a:p>
          <a:p>
            <a:pPr algn="l">
              <a:lnSpc>
                <a:spcPts val="2099"/>
              </a:lnSpc>
            </a:pPr>
            <a:r>
              <a:rPr lang="en-US" b="true" sz="1749">
                <a:solidFill>
                  <a:srgbClr val="000000"/>
                </a:solidFill>
                <a:latin typeface="Trebuchet MS Bold"/>
                <a:ea typeface="Trebuchet MS Bold"/>
                <a:cs typeface="Trebuchet MS Bold"/>
                <a:sym typeface="Trebuchet MS Bold"/>
              </a:rPr>
              <a:t>Core Framework:</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fastapi — REST API framework</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uvicorn[standard] — ASGI server</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pydantic / pydantic-settings — Data validation and configuration</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sqlalchemy / alembic — ORM and database migrations</a:t>
            </a:r>
          </a:p>
          <a:p>
            <a:pPr algn="l">
              <a:lnSpc>
                <a:spcPts val="2099"/>
              </a:lnSpc>
            </a:pPr>
            <a:r>
              <a:rPr lang="en-US" b="true" sz="1749">
                <a:solidFill>
                  <a:srgbClr val="000000"/>
                </a:solidFill>
                <a:latin typeface="Trebuchet MS Bold"/>
                <a:ea typeface="Trebuchet MS Bold"/>
                <a:cs typeface="Trebuchet MS Bold"/>
                <a:sym typeface="Trebuchet MS Bold"/>
              </a:rPr>
              <a:t>Voice Biometrics &amp; ASR:</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speechbrain — ECAPA-TDNN speaker verification model</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torch / torchaudio — PyTorch ML runtime and audio tensor operations</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openai-whisper — Whisper large-v3 for English ASR</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transformers — HuggingFace library for Swahili ASR (badrex/w2v-bert-2.0-swahili)</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gTTS — Google Text-to-Speech for IVR prompts</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pydub / soundfile — Audio format conversion</a:t>
            </a:r>
          </a:p>
          <a:p>
            <a:pPr algn="l">
              <a:lnSpc>
                <a:spcPts val="2099"/>
              </a:lnSpc>
            </a:pPr>
            <a:r>
              <a:rPr lang="en-US" b="true" sz="1749">
                <a:solidFill>
                  <a:srgbClr val="000000"/>
                </a:solidFill>
                <a:latin typeface="Trebuchet MS Bold"/>
                <a:ea typeface="Trebuchet MS Bold"/>
                <a:cs typeface="Trebuchet MS Bold"/>
                <a:sym typeface="Trebuchet MS Bold"/>
              </a:rPr>
              <a:t>Cryptography:</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phe (python-paillier) — Paillier homomorphic encryption</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pynacl — Ed25519 digital signatures for consent tokens</a:t>
            </a:r>
          </a:p>
          <a:p>
            <a:pPr algn="l">
              <a:lnSpc>
                <a:spcPts val="2099"/>
              </a:lnSpc>
            </a:pPr>
            <a:r>
              <a:rPr lang="en-US" b="true" sz="1749">
                <a:solidFill>
                  <a:srgbClr val="000000"/>
                </a:solidFill>
                <a:latin typeface="Trebuchet MS Bold"/>
                <a:ea typeface="Trebuchet MS Bold"/>
                <a:cs typeface="Trebuchet MS Bold"/>
                <a:sym typeface="Trebuchet MS Bold"/>
              </a:rPr>
              <a:t>MOSIP e-Signet Integration:</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authlib — OAuth2/OIDC client (AsyncOAuth2Client)</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python-jose — JWT encoding with RS256 for private_key_jwt</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PyJWT — JWT decoding with PS256/RS256 JWKS validation</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httpx — Async HTTP client for e-Signet API calls</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redis — OIDC state/nonce storage with TTL</a:t>
            </a:r>
          </a:p>
          <a:p>
            <a:pPr algn="l">
              <a:lnSpc>
                <a:spcPts val="2099"/>
              </a:lnSpc>
            </a:pPr>
            <a:r>
              <a:rPr lang="en-US" b="true" sz="1749">
                <a:solidFill>
                  <a:srgbClr val="000000"/>
                </a:solidFill>
                <a:latin typeface="Trebuchet MS Bold"/>
                <a:ea typeface="Trebuchet MS Bold"/>
                <a:cs typeface="Trebuchet MS Bold"/>
                <a:sym typeface="Trebuchet MS Bold"/>
              </a:rPr>
              <a:t>Audio Processing:</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librosa — Audio loading, resampling, VAD</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scipy — Butterworth filtering, spectral subtraction</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numpy — Numerical array operations</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sounddevice — Audio I/O</a:t>
            </a:r>
          </a:p>
          <a:p>
            <a:pPr algn="l">
              <a:lnSpc>
                <a:spcPts val="2099"/>
              </a:lnSpc>
            </a:pPr>
            <a:r>
              <a:rPr lang="en-US" b="true" sz="1749">
                <a:solidFill>
                  <a:srgbClr val="000000"/>
                </a:solidFill>
                <a:latin typeface="Trebuchet MS Bold"/>
                <a:ea typeface="Trebuchet MS Bold"/>
                <a:cs typeface="Trebuchet MS Bold"/>
                <a:sym typeface="Trebuchet MS Bold"/>
              </a:rPr>
              <a:t>IVR/Telephony:</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twilio — Twilio Voice API integration</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unidecode — Text normalization for transcript matching</a:t>
            </a:r>
          </a:p>
          <a:p>
            <a:pPr algn="l">
              <a:lnSpc>
                <a:spcPts val="2099"/>
              </a:lnSpc>
            </a:pPr>
            <a:r>
              <a:rPr lang="en-US" b="true" sz="1749">
                <a:solidFill>
                  <a:srgbClr val="000000"/>
                </a:solidFill>
                <a:latin typeface="Trebuchet MS Bold"/>
                <a:ea typeface="Trebuchet MS Bold"/>
                <a:cs typeface="Trebuchet MS Bold"/>
                <a:sym typeface="Trebuchet MS Bold"/>
              </a:rPr>
              <a:t>Testing &amp; Utilities:</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pytest — Test framework</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python-multipart — Multipart form handling</a:t>
            </a:r>
          </a:p>
          <a:p>
            <a:pPr algn="l" marL="377824" indent="-188912" lvl="1">
              <a:lnSpc>
                <a:spcPts val="2099"/>
              </a:lnSpc>
              <a:buFont typeface="Arial"/>
              <a:buChar char="•"/>
            </a:pPr>
            <a:r>
              <a:rPr lang="en-US" sz="1749">
                <a:solidFill>
                  <a:srgbClr val="000000"/>
                </a:solidFill>
                <a:latin typeface="Trebuchet MS"/>
                <a:ea typeface="Trebuchet MS"/>
                <a:cs typeface="Trebuchet MS"/>
                <a:sym typeface="Trebuchet MS"/>
              </a:rPr>
              <a:t>python-dotenv — Environment variable loading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0"/>
            <a:ext cx="5264712" cy="10287000"/>
          </a:xfrm>
          <a:custGeom>
            <a:avLst/>
            <a:gdLst/>
            <a:ahLst/>
            <a:cxnLst/>
            <a:rect r="r" b="b" t="t" l="l"/>
            <a:pathLst>
              <a:path h="10287000" w="5264712">
                <a:moveTo>
                  <a:pt x="0" y="0"/>
                </a:moveTo>
                <a:lnTo>
                  <a:pt x="5264712" y="0"/>
                </a:lnTo>
                <a:lnTo>
                  <a:pt x="5264712" y="10287000"/>
                </a:lnTo>
                <a:lnTo>
                  <a:pt x="0" y="10287000"/>
                </a:lnTo>
                <a:lnTo>
                  <a:pt x="0" y="0"/>
                </a:lnTo>
                <a:close/>
              </a:path>
            </a:pathLst>
          </a:custGeom>
          <a:blipFill>
            <a:blip r:embed="rId2"/>
            <a:stretch>
              <a:fillRect l="0" t="-797" r="0" b="-797"/>
            </a:stretch>
          </a:blipFill>
        </p:spPr>
      </p:sp>
      <p:sp>
        <p:nvSpPr>
          <p:cNvPr name="Freeform 3" id="3"/>
          <p:cNvSpPr/>
          <p:nvPr/>
        </p:nvSpPr>
        <p:spPr>
          <a:xfrm flipH="false" flipV="false" rot="0">
            <a:off x="7340583" y="199272"/>
            <a:ext cx="8930150" cy="5169666"/>
          </a:xfrm>
          <a:custGeom>
            <a:avLst/>
            <a:gdLst/>
            <a:ahLst/>
            <a:cxnLst/>
            <a:rect r="r" b="b" t="t" l="l"/>
            <a:pathLst>
              <a:path h="5169666" w="8930150">
                <a:moveTo>
                  <a:pt x="0" y="0"/>
                </a:moveTo>
                <a:lnTo>
                  <a:pt x="8930150" y="0"/>
                </a:lnTo>
                <a:lnTo>
                  <a:pt x="8930150" y="5169666"/>
                </a:lnTo>
                <a:lnTo>
                  <a:pt x="0" y="5169666"/>
                </a:lnTo>
                <a:lnTo>
                  <a:pt x="0" y="0"/>
                </a:lnTo>
                <a:close/>
              </a:path>
            </a:pathLst>
          </a:custGeom>
          <a:blipFill>
            <a:blip r:embed="rId3"/>
            <a:stretch>
              <a:fillRect l="0" t="0" r="-7536" b="0"/>
            </a:stretch>
          </a:blipFill>
        </p:spPr>
      </p:sp>
      <p:sp>
        <p:nvSpPr>
          <p:cNvPr name="Freeform 4" id="4"/>
          <p:cNvSpPr/>
          <p:nvPr/>
        </p:nvSpPr>
        <p:spPr>
          <a:xfrm flipH="false" flipV="false" rot="0">
            <a:off x="7340583" y="5368938"/>
            <a:ext cx="8503427" cy="4870287"/>
          </a:xfrm>
          <a:custGeom>
            <a:avLst/>
            <a:gdLst/>
            <a:ahLst/>
            <a:cxnLst/>
            <a:rect r="r" b="b" t="t" l="l"/>
            <a:pathLst>
              <a:path h="4870287" w="8503427">
                <a:moveTo>
                  <a:pt x="0" y="0"/>
                </a:moveTo>
                <a:lnTo>
                  <a:pt x="8503427" y="0"/>
                </a:lnTo>
                <a:lnTo>
                  <a:pt x="8503427" y="4870287"/>
                </a:lnTo>
                <a:lnTo>
                  <a:pt x="0" y="4870287"/>
                </a:lnTo>
                <a:lnTo>
                  <a:pt x="0" y="0"/>
                </a:lnTo>
                <a:close/>
              </a:path>
            </a:pathLst>
          </a:custGeom>
          <a:blipFill>
            <a:blip r:embed="rId4"/>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14109"/>
            <a:ext cx="8870788" cy="3937127"/>
          </a:xfrm>
          <a:custGeom>
            <a:avLst/>
            <a:gdLst/>
            <a:ahLst/>
            <a:cxnLst/>
            <a:rect r="r" b="b" t="t" l="l"/>
            <a:pathLst>
              <a:path h="3937127" w="8870788">
                <a:moveTo>
                  <a:pt x="0" y="0"/>
                </a:moveTo>
                <a:lnTo>
                  <a:pt x="8870788" y="0"/>
                </a:lnTo>
                <a:lnTo>
                  <a:pt x="8870788" y="3937127"/>
                </a:lnTo>
                <a:lnTo>
                  <a:pt x="0" y="3937127"/>
                </a:lnTo>
                <a:lnTo>
                  <a:pt x="0" y="0"/>
                </a:lnTo>
                <a:close/>
              </a:path>
            </a:pathLst>
          </a:custGeom>
          <a:blipFill>
            <a:blip r:embed="rId2"/>
            <a:stretch>
              <a:fillRect l="0" t="0" r="0" b="0"/>
            </a:stretch>
          </a:blipFill>
        </p:spPr>
      </p:sp>
      <p:sp>
        <p:nvSpPr>
          <p:cNvPr name="Freeform 3" id="3"/>
          <p:cNvSpPr/>
          <p:nvPr/>
        </p:nvSpPr>
        <p:spPr>
          <a:xfrm flipH="false" flipV="false" rot="0">
            <a:off x="8571904" y="593155"/>
            <a:ext cx="9787885" cy="4550345"/>
          </a:xfrm>
          <a:custGeom>
            <a:avLst/>
            <a:gdLst/>
            <a:ahLst/>
            <a:cxnLst/>
            <a:rect r="r" b="b" t="t" l="l"/>
            <a:pathLst>
              <a:path h="4550345" w="9787885">
                <a:moveTo>
                  <a:pt x="0" y="0"/>
                </a:moveTo>
                <a:lnTo>
                  <a:pt x="9787885" y="0"/>
                </a:lnTo>
                <a:lnTo>
                  <a:pt x="9787885" y="4550345"/>
                </a:lnTo>
                <a:lnTo>
                  <a:pt x="0" y="4550345"/>
                </a:lnTo>
                <a:lnTo>
                  <a:pt x="0" y="0"/>
                </a:lnTo>
                <a:close/>
              </a:path>
            </a:pathLst>
          </a:custGeom>
          <a:blipFill>
            <a:blip r:embed="rId3"/>
            <a:stretch>
              <a:fillRect l="0" t="0" r="0" b="0"/>
            </a:stretch>
          </a:blipFill>
        </p:spPr>
      </p:sp>
      <p:sp>
        <p:nvSpPr>
          <p:cNvPr name="Freeform 4" id="4"/>
          <p:cNvSpPr/>
          <p:nvPr/>
        </p:nvSpPr>
        <p:spPr>
          <a:xfrm flipH="false" flipV="false" rot="0">
            <a:off x="0" y="4551236"/>
            <a:ext cx="8233002" cy="5917470"/>
          </a:xfrm>
          <a:custGeom>
            <a:avLst/>
            <a:gdLst/>
            <a:ahLst/>
            <a:cxnLst/>
            <a:rect r="r" b="b" t="t" l="l"/>
            <a:pathLst>
              <a:path h="5917470" w="8233002">
                <a:moveTo>
                  <a:pt x="0" y="0"/>
                </a:moveTo>
                <a:lnTo>
                  <a:pt x="8233002" y="0"/>
                </a:lnTo>
                <a:lnTo>
                  <a:pt x="8233002" y="5917471"/>
                </a:lnTo>
                <a:lnTo>
                  <a:pt x="0" y="5917471"/>
                </a:lnTo>
                <a:lnTo>
                  <a:pt x="0" y="0"/>
                </a:lnTo>
                <a:close/>
              </a:path>
            </a:pathLst>
          </a:custGeom>
          <a:blipFill>
            <a:blip r:embed="rId4"/>
            <a:stretch>
              <a:fillRect l="0" t="0" r="0" b="0"/>
            </a:stretch>
          </a:blipFill>
        </p:spPr>
      </p:sp>
      <p:sp>
        <p:nvSpPr>
          <p:cNvPr name="Freeform 5" id="5"/>
          <p:cNvSpPr/>
          <p:nvPr/>
        </p:nvSpPr>
        <p:spPr>
          <a:xfrm flipH="false" flipV="false" rot="0">
            <a:off x="8880093" y="5143500"/>
            <a:ext cx="9171506" cy="5124579"/>
          </a:xfrm>
          <a:custGeom>
            <a:avLst/>
            <a:gdLst/>
            <a:ahLst/>
            <a:cxnLst/>
            <a:rect r="r" b="b" t="t" l="l"/>
            <a:pathLst>
              <a:path h="5124579" w="9171506">
                <a:moveTo>
                  <a:pt x="0" y="0"/>
                </a:moveTo>
                <a:lnTo>
                  <a:pt x="9171507" y="0"/>
                </a:lnTo>
                <a:lnTo>
                  <a:pt x="9171507" y="5124579"/>
                </a:lnTo>
                <a:lnTo>
                  <a:pt x="0" y="5124579"/>
                </a:lnTo>
                <a:lnTo>
                  <a:pt x="0" y="0"/>
                </a:lnTo>
                <a:close/>
              </a:path>
            </a:pathLst>
          </a:custGeom>
          <a:blipFill>
            <a:blip r:embed="rId5"/>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140">
            <a:off x="654872" y="9575359"/>
            <a:ext cx="11852405" cy="0"/>
          </a:xfrm>
          <a:prstGeom prst="line">
            <a:avLst/>
          </a:prstGeom>
          <a:ln cap="rnd" w="9525">
            <a:solidFill>
              <a:srgbClr val="284181"/>
            </a:solidFill>
            <a:prstDash val="solid"/>
            <a:headEnd type="none" len="sm" w="sm"/>
            <a:tailEnd type="none" len="sm" w="sm"/>
          </a:ln>
        </p:spPr>
      </p:sp>
      <p:sp>
        <p:nvSpPr>
          <p:cNvPr name="AutoShape 3" id="3"/>
          <p:cNvSpPr/>
          <p:nvPr/>
        </p:nvSpPr>
        <p:spPr>
          <a:xfrm rot="10020">
            <a:off x="12686767" y="9575359"/>
            <a:ext cx="4889106" cy="0"/>
          </a:xfrm>
          <a:prstGeom prst="line">
            <a:avLst/>
          </a:prstGeom>
          <a:ln cap="rnd" w="9525">
            <a:solidFill>
              <a:srgbClr val="00BFDF"/>
            </a:solidFill>
            <a:prstDash val="solid"/>
            <a:headEnd type="none" len="sm" w="sm"/>
            <a:tailEnd type="none" len="sm" w="sm"/>
          </a:ln>
        </p:spPr>
      </p:sp>
      <p:sp>
        <p:nvSpPr>
          <p:cNvPr name="TextBox 4" id="4"/>
          <p:cNvSpPr txBox="true"/>
          <p:nvPr/>
        </p:nvSpPr>
        <p:spPr>
          <a:xfrm rot="0">
            <a:off x="603371" y="373380"/>
            <a:ext cx="16928840" cy="433959"/>
          </a:xfrm>
          <a:prstGeom prst="rect">
            <a:avLst/>
          </a:prstGeom>
        </p:spPr>
        <p:txBody>
          <a:bodyPr anchor="t" rtlCol="false" tIns="0" lIns="0" bIns="0" rIns="0">
            <a:spAutoFit/>
          </a:bodyPr>
          <a:lstStyle/>
          <a:p>
            <a:pPr algn="l">
              <a:lnSpc>
                <a:spcPts val="3240"/>
              </a:lnSpc>
            </a:pPr>
            <a:r>
              <a:rPr lang="en-US" sz="3000" b="true">
                <a:solidFill>
                  <a:srgbClr val="284181"/>
                </a:solidFill>
                <a:latin typeface="Trebuchet MS Bold"/>
                <a:ea typeface="Trebuchet MS Bold"/>
                <a:cs typeface="Trebuchet MS Bold"/>
                <a:sym typeface="Trebuchet MS Bold"/>
              </a:rPr>
              <a:t>User journey flow</a:t>
            </a:r>
          </a:p>
        </p:txBody>
      </p:sp>
      <p:grpSp>
        <p:nvGrpSpPr>
          <p:cNvPr name="Group 5" id="5"/>
          <p:cNvGrpSpPr/>
          <p:nvPr/>
        </p:nvGrpSpPr>
        <p:grpSpPr>
          <a:xfrm rot="0">
            <a:off x="15054939" y="2686"/>
            <a:ext cx="3239995" cy="522989"/>
            <a:chOff x="0" y="0"/>
            <a:chExt cx="4319994" cy="697319"/>
          </a:xfrm>
        </p:grpSpPr>
        <p:sp>
          <p:nvSpPr>
            <p:cNvPr name="Freeform 6" id="6"/>
            <p:cNvSpPr/>
            <p:nvPr/>
          </p:nvSpPr>
          <p:spPr>
            <a:xfrm flipH="false" flipV="false" rot="0">
              <a:off x="0" y="0"/>
              <a:ext cx="4320032" cy="697357"/>
            </a:xfrm>
            <a:custGeom>
              <a:avLst/>
              <a:gdLst/>
              <a:ahLst/>
              <a:cxnLst/>
              <a:rect r="r" b="b" t="t" l="l"/>
              <a:pathLst>
                <a:path h="697357" w="4320032">
                  <a:moveTo>
                    <a:pt x="0" y="0"/>
                  </a:moveTo>
                  <a:lnTo>
                    <a:pt x="4320032" y="0"/>
                  </a:lnTo>
                  <a:lnTo>
                    <a:pt x="4320032" y="697357"/>
                  </a:lnTo>
                  <a:lnTo>
                    <a:pt x="0" y="697357"/>
                  </a:lnTo>
                  <a:close/>
                </a:path>
              </a:pathLst>
            </a:custGeom>
            <a:solidFill>
              <a:srgbClr val="F79333"/>
            </a:solidFill>
          </p:spPr>
        </p:sp>
        <p:sp>
          <p:nvSpPr>
            <p:cNvPr name="TextBox 7" id="7"/>
            <p:cNvSpPr txBox="true"/>
            <p:nvPr/>
          </p:nvSpPr>
          <p:spPr>
            <a:xfrm>
              <a:off x="0" y="-9525"/>
              <a:ext cx="4319994" cy="706844"/>
            </a:xfrm>
            <a:prstGeom prst="rect">
              <a:avLst/>
            </a:prstGeom>
          </p:spPr>
          <p:txBody>
            <a:bodyPr anchor="ctr" rtlCol="false" tIns="50800" lIns="50800" bIns="50800" rIns="50800"/>
            <a:lstStyle/>
            <a:p>
              <a:pPr algn="ctr">
                <a:lnSpc>
                  <a:spcPts val="3240"/>
                </a:lnSpc>
              </a:pPr>
              <a:r>
                <a:rPr lang="en-US" sz="2700">
                  <a:solidFill>
                    <a:srgbClr val="FFFFFF"/>
                  </a:solidFill>
                  <a:latin typeface="Trebuchet MS"/>
                  <a:ea typeface="Trebuchet MS"/>
                  <a:cs typeface="Trebuchet MS"/>
                  <a:sym typeface="Trebuchet MS"/>
                </a:rPr>
                <a:t>Time: 1 min 30 sec</a:t>
              </a:r>
            </a:p>
          </p:txBody>
        </p:sp>
      </p:grpSp>
      <p:sp>
        <p:nvSpPr>
          <p:cNvPr name="Freeform 8" id="8"/>
          <p:cNvSpPr/>
          <p:nvPr/>
        </p:nvSpPr>
        <p:spPr>
          <a:xfrm flipH="false" flipV="false" rot="0">
            <a:off x="11378319" y="1086721"/>
            <a:ext cx="6422403" cy="8233850"/>
          </a:xfrm>
          <a:custGeom>
            <a:avLst/>
            <a:gdLst/>
            <a:ahLst/>
            <a:cxnLst/>
            <a:rect r="r" b="b" t="t" l="l"/>
            <a:pathLst>
              <a:path h="8233850" w="6422403">
                <a:moveTo>
                  <a:pt x="0" y="0"/>
                </a:moveTo>
                <a:lnTo>
                  <a:pt x="6422403" y="0"/>
                </a:lnTo>
                <a:lnTo>
                  <a:pt x="6422403" y="8233851"/>
                </a:lnTo>
                <a:lnTo>
                  <a:pt x="0" y="8233851"/>
                </a:lnTo>
                <a:lnTo>
                  <a:pt x="0" y="0"/>
                </a:lnTo>
                <a:close/>
              </a:path>
            </a:pathLst>
          </a:custGeom>
          <a:blipFill>
            <a:blip r:embed="rId3"/>
            <a:stretch>
              <a:fillRect l="0" t="0" r="0" b="0"/>
            </a:stretch>
          </a:blipFill>
        </p:spPr>
      </p:sp>
      <p:sp>
        <p:nvSpPr>
          <p:cNvPr name="Freeform 9" id="9"/>
          <p:cNvSpPr/>
          <p:nvPr/>
        </p:nvSpPr>
        <p:spPr>
          <a:xfrm flipH="false" flipV="false" rot="0">
            <a:off x="221050" y="1201873"/>
            <a:ext cx="7482407" cy="8056427"/>
          </a:xfrm>
          <a:custGeom>
            <a:avLst/>
            <a:gdLst/>
            <a:ahLst/>
            <a:cxnLst/>
            <a:rect r="r" b="b" t="t" l="l"/>
            <a:pathLst>
              <a:path h="8056427" w="7482407">
                <a:moveTo>
                  <a:pt x="0" y="0"/>
                </a:moveTo>
                <a:lnTo>
                  <a:pt x="7482407" y="0"/>
                </a:lnTo>
                <a:lnTo>
                  <a:pt x="7482407" y="8056427"/>
                </a:lnTo>
                <a:lnTo>
                  <a:pt x="0" y="8056427"/>
                </a:lnTo>
                <a:lnTo>
                  <a:pt x="0" y="0"/>
                </a:lnTo>
                <a:close/>
              </a:path>
            </a:pathLst>
          </a:custGeom>
          <a:blipFill>
            <a:blip r:embed="rId4"/>
            <a:stretch>
              <a:fillRect l="0" t="0" r="0" b="0"/>
            </a:stretch>
          </a:blipFill>
        </p:spPr>
      </p:sp>
      <p:sp>
        <p:nvSpPr>
          <p:cNvPr name="TextBox 10" id="10"/>
          <p:cNvSpPr txBox="true"/>
          <p:nvPr/>
        </p:nvSpPr>
        <p:spPr>
          <a:xfrm rot="0">
            <a:off x="681361" y="9781699"/>
            <a:ext cx="960149" cy="273901"/>
          </a:xfrm>
          <a:prstGeom prst="rect">
            <a:avLst/>
          </a:prstGeom>
        </p:spPr>
        <p:txBody>
          <a:bodyPr anchor="t" rtlCol="false" tIns="0" lIns="0" bIns="0" rIns="0">
            <a:spAutoFit/>
          </a:bodyPr>
          <a:lstStyle/>
          <a:p>
            <a:pPr algn="l">
              <a:lnSpc>
                <a:spcPts val="1620"/>
              </a:lnSpc>
            </a:pPr>
            <a:r>
              <a:rPr lang="en-US" sz="1350">
                <a:solidFill>
                  <a:srgbClr val="595959"/>
                </a:solidFill>
                <a:latin typeface="Trebuchet MS"/>
                <a:ea typeface="Trebuchet MS"/>
                <a:cs typeface="Trebuchet MS"/>
                <a:sym typeface="Trebuchet MS"/>
              </a:rPr>
              <a:t>‹#›</a:t>
            </a:r>
          </a:p>
        </p:txBody>
      </p:sp>
      <p:sp>
        <p:nvSpPr>
          <p:cNvPr name="TextBox 11" id="11"/>
          <p:cNvSpPr txBox="true"/>
          <p:nvPr/>
        </p:nvSpPr>
        <p:spPr>
          <a:xfrm rot="0">
            <a:off x="5261715" y="9851822"/>
            <a:ext cx="7764570" cy="203778"/>
          </a:xfrm>
          <a:prstGeom prst="rect">
            <a:avLst/>
          </a:prstGeom>
        </p:spPr>
        <p:txBody>
          <a:bodyPr anchor="t" rtlCol="false" tIns="0" lIns="0" bIns="0" rIns="0">
            <a:spAutoFit/>
          </a:bodyPr>
          <a:lstStyle/>
          <a:p>
            <a:pPr algn="ctr">
              <a:lnSpc>
                <a:spcPts val="1296"/>
              </a:lnSpc>
            </a:pPr>
            <a:r>
              <a:rPr lang="en-US" sz="1200">
                <a:solidFill>
                  <a:srgbClr val="595959"/>
                </a:solidFill>
                <a:latin typeface="Trebuchet MS"/>
                <a:ea typeface="Trebuchet MS"/>
                <a:cs typeface="Trebuchet MS"/>
                <a:sym typeface="Trebuchet MS"/>
              </a:rPr>
              <a:t> All rights reserved. This document is proprietary and confidential.</a:t>
            </a:r>
          </a:p>
        </p:txBody>
      </p:sp>
      <p:sp>
        <p:nvSpPr>
          <p:cNvPr name="AutoShape 12" id="12"/>
          <p:cNvSpPr/>
          <p:nvPr/>
        </p:nvSpPr>
        <p:spPr>
          <a:xfrm flipV="true">
            <a:off x="7919286" y="5124450"/>
            <a:ext cx="3136301" cy="19050"/>
          </a:xfrm>
          <a:prstGeom prst="line">
            <a:avLst/>
          </a:prstGeom>
          <a:ln cap="flat" w="38100">
            <a:solidFill>
              <a:srgbClr val="284181"/>
            </a:solidFill>
            <a:prstDash val="solid"/>
            <a:headEnd type="none" len="sm" w="sm"/>
            <a:tailEnd type="triangle" len="med" w="lg"/>
          </a:ln>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140">
            <a:off x="654872" y="9575359"/>
            <a:ext cx="11852405" cy="0"/>
          </a:xfrm>
          <a:prstGeom prst="line">
            <a:avLst/>
          </a:prstGeom>
          <a:ln cap="rnd" w="9525">
            <a:solidFill>
              <a:srgbClr val="284181"/>
            </a:solidFill>
            <a:prstDash val="solid"/>
            <a:headEnd type="none" len="sm" w="sm"/>
            <a:tailEnd type="none" len="sm" w="sm"/>
          </a:ln>
        </p:spPr>
      </p:sp>
      <p:sp>
        <p:nvSpPr>
          <p:cNvPr name="AutoShape 3" id="3"/>
          <p:cNvSpPr/>
          <p:nvPr/>
        </p:nvSpPr>
        <p:spPr>
          <a:xfrm rot="10020">
            <a:off x="12686767" y="9575359"/>
            <a:ext cx="4889106" cy="0"/>
          </a:xfrm>
          <a:prstGeom prst="line">
            <a:avLst/>
          </a:prstGeom>
          <a:ln cap="rnd" w="9525">
            <a:solidFill>
              <a:srgbClr val="00BFDF"/>
            </a:solidFill>
            <a:prstDash val="solid"/>
            <a:headEnd type="none" len="sm" w="sm"/>
            <a:tailEnd type="none" len="sm" w="sm"/>
          </a:ln>
        </p:spPr>
      </p:sp>
      <p:sp>
        <p:nvSpPr>
          <p:cNvPr name="TextBox 4" id="4"/>
          <p:cNvSpPr txBox="true"/>
          <p:nvPr/>
        </p:nvSpPr>
        <p:spPr>
          <a:xfrm rot="0">
            <a:off x="681361" y="9781699"/>
            <a:ext cx="960149" cy="273901"/>
          </a:xfrm>
          <a:prstGeom prst="rect">
            <a:avLst/>
          </a:prstGeom>
        </p:spPr>
        <p:txBody>
          <a:bodyPr anchor="t" rtlCol="false" tIns="0" lIns="0" bIns="0" rIns="0">
            <a:spAutoFit/>
          </a:bodyPr>
          <a:lstStyle/>
          <a:p>
            <a:pPr algn="l">
              <a:lnSpc>
                <a:spcPts val="1620"/>
              </a:lnSpc>
            </a:pPr>
            <a:r>
              <a:rPr lang="en-US" sz="1350">
                <a:solidFill>
                  <a:srgbClr val="595959"/>
                </a:solidFill>
                <a:latin typeface="Trebuchet MS"/>
                <a:ea typeface="Trebuchet MS"/>
                <a:cs typeface="Trebuchet MS"/>
                <a:sym typeface="Trebuchet MS"/>
              </a:rPr>
              <a:t>‹#›</a:t>
            </a:r>
          </a:p>
        </p:txBody>
      </p:sp>
      <p:sp>
        <p:nvSpPr>
          <p:cNvPr name="TextBox 5" id="5"/>
          <p:cNvSpPr txBox="true"/>
          <p:nvPr/>
        </p:nvSpPr>
        <p:spPr>
          <a:xfrm rot="0">
            <a:off x="5261715" y="9851822"/>
            <a:ext cx="7764570" cy="203778"/>
          </a:xfrm>
          <a:prstGeom prst="rect">
            <a:avLst/>
          </a:prstGeom>
        </p:spPr>
        <p:txBody>
          <a:bodyPr anchor="t" rtlCol="false" tIns="0" lIns="0" bIns="0" rIns="0">
            <a:spAutoFit/>
          </a:bodyPr>
          <a:lstStyle/>
          <a:p>
            <a:pPr algn="ctr">
              <a:lnSpc>
                <a:spcPts val="1296"/>
              </a:lnSpc>
            </a:pPr>
            <a:r>
              <a:rPr lang="en-US" sz="1200">
                <a:solidFill>
                  <a:srgbClr val="595959"/>
                </a:solidFill>
                <a:latin typeface="Trebuchet MS"/>
                <a:ea typeface="Trebuchet MS"/>
                <a:cs typeface="Trebuchet MS"/>
                <a:sym typeface="Trebuchet MS"/>
              </a:rPr>
              <a:t> All rights reserved. This document is proprietary and confidential.</a:t>
            </a:r>
          </a:p>
        </p:txBody>
      </p:sp>
      <p:sp>
        <p:nvSpPr>
          <p:cNvPr name="TextBox 6" id="6"/>
          <p:cNvSpPr txBox="true"/>
          <p:nvPr/>
        </p:nvSpPr>
        <p:spPr>
          <a:xfrm rot="0">
            <a:off x="603371" y="373380"/>
            <a:ext cx="16928840" cy="517065"/>
          </a:xfrm>
          <a:prstGeom prst="rect">
            <a:avLst/>
          </a:prstGeom>
        </p:spPr>
        <p:txBody>
          <a:bodyPr anchor="t" rtlCol="false" tIns="0" lIns="0" bIns="0" rIns="0">
            <a:spAutoFit/>
          </a:bodyPr>
          <a:lstStyle/>
          <a:p>
            <a:pPr algn="l">
              <a:lnSpc>
                <a:spcPts val="3888"/>
              </a:lnSpc>
            </a:pPr>
            <a:r>
              <a:rPr lang="en-US" sz="3600" b="true">
                <a:solidFill>
                  <a:srgbClr val="284181"/>
                </a:solidFill>
                <a:latin typeface="Trebuchet MS Bold"/>
                <a:ea typeface="Trebuchet MS Bold"/>
                <a:cs typeface="Trebuchet MS Bold"/>
                <a:sym typeface="Trebuchet MS Bold"/>
              </a:rPr>
              <a:t>Potential Impact</a:t>
            </a:r>
          </a:p>
        </p:txBody>
      </p:sp>
      <p:sp>
        <p:nvSpPr>
          <p:cNvPr name="AutoShape 7" id="7"/>
          <p:cNvSpPr/>
          <p:nvPr/>
        </p:nvSpPr>
        <p:spPr>
          <a:xfrm rot="10920">
            <a:off x="3295326" y="3977783"/>
            <a:ext cx="4498505" cy="0"/>
          </a:xfrm>
          <a:prstGeom prst="line">
            <a:avLst/>
          </a:prstGeom>
          <a:ln cap="rnd" w="9525">
            <a:solidFill>
              <a:srgbClr val="FFFFFF"/>
            </a:solidFill>
            <a:prstDash val="solid"/>
            <a:headEnd type="none" len="sm" w="sm"/>
            <a:tailEnd type="none" len="sm" w="sm"/>
          </a:ln>
        </p:spPr>
      </p:sp>
      <p:sp>
        <p:nvSpPr>
          <p:cNvPr name="AutoShape 8" id="8"/>
          <p:cNvSpPr/>
          <p:nvPr/>
        </p:nvSpPr>
        <p:spPr>
          <a:xfrm rot="10920">
            <a:off x="3295326" y="5930703"/>
            <a:ext cx="4498505" cy="0"/>
          </a:xfrm>
          <a:prstGeom prst="line">
            <a:avLst/>
          </a:prstGeom>
          <a:ln cap="rnd" w="9525">
            <a:solidFill>
              <a:srgbClr val="FFFFFF"/>
            </a:solidFill>
            <a:prstDash val="solid"/>
            <a:headEnd type="none" len="sm" w="sm"/>
            <a:tailEnd type="none" len="sm" w="sm"/>
          </a:ln>
        </p:spPr>
      </p:sp>
      <p:grpSp>
        <p:nvGrpSpPr>
          <p:cNvPr name="Group 9" id="9"/>
          <p:cNvGrpSpPr/>
          <p:nvPr/>
        </p:nvGrpSpPr>
        <p:grpSpPr>
          <a:xfrm rot="0">
            <a:off x="3054571" y="1842321"/>
            <a:ext cx="9204794" cy="1755085"/>
            <a:chOff x="0" y="0"/>
            <a:chExt cx="12273058" cy="2340113"/>
          </a:xfrm>
        </p:grpSpPr>
        <p:sp>
          <p:nvSpPr>
            <p:cNvPr name="Freeform 10" id="10"/>
            <p:cNvSpPr/>
            <p:nvPr/>
          </p:nvSpPr>
          <p:spPr>
            <a:xfrm flipH="false" flipV="false" rot="0">
              <a:off x="0" y="0"/>
              <a:ext cx="12273062" cy="2340116"/>
            </a:xfrm>
            <a:custGeom>
              <a:avLst/>
              <a:gdLst/>
              <a:ahLst/>
              <a:cxnLst/>
              <a:rect r="r" b="b" t="t" l="l"/>
              <a:pathLst>
                <a:path h="2340116" w="12273062">
                  <a:moveTo>
                    <a:pt x="0" y="0"/>
                  </a:moveTo>
                  <a:lnTo>
                    <a:pt x="12273062" y="0"/>
                  </a:lnTo>
                  <a:lnTo>
                    <a:pt x="12273062" y="2340116"/>
                  </a:lnTo>
                  <a:lnTo>
                    <a:pt x="0" y="2340116"/>
                  </a:lnTo>
                  <a:close/>
                </a:path>
              </a:pathLst>
            </a:custGeom>
            <a:blipFill>
              <a:blip r:embed="rId3">
                <a:alphaModFix amt="0"/>
              </a:blip>
              <a:stretch>
                <a:fillRect l="0" t="-9280" r="54367" b="16015"/>
              </a:stretch>
            </a:blipFill>
          </p:spPr>
        </p:sp>
        <p:sp>
          <p:nvSpPr>
            <p:cNvPr name="TextBox 11" id="11"/>
            <p:cNvSpPr txBox="true"/>
            <p:nvPr/>
          </p:nvSpPr>
          <p:spPr>
            <a:xfrm>
              <a:off x="0" y="47625"/>
              <a:ext cx="12273058" cy="2292488"/>
            </a:xfrm>
            <a:prstGeom prst="rect">
              <a:avLst/>
            </a:prstGeom>
          </p:spPr>
          <p:txBody>
            <a:bodyPr anchor="ctr" rtlCol="false" tIns="0" lIns="0" bIns="0" rIns="0"/>
            <a:lstStyle/>
            <a:p>
              <a:pPr algn="l">
                <a:lnSpc>
                  <a:spcPts val="5184"/>
                </a:lnSpc>
              </a:pPr>
              <a:r>
                <a:rPr lang="en-US" b="true" sz="4800" i="true">
                  <a:solidFill>
                    <a:srgbClr val="284181"/>
                  </a:solidFill>
                  <a:latin typeface="Trebuchet MS Bold Italics"/>
                  <a:ea typeface="Trebuchet MS Bold Italics"/>
                  <a:cs typeface="Trebuchet MS Bold Italics"/>
                  <a:sym typeface="Trebuchet MS Bold Italics"/>
                </a:rPr>
                <a:t>250mil</a:t>
              </a:r>
            </a:p>
            <a:p>
              <a:pPr algn="l">
                <a:lnSpc>
                  <a:spcPts val="2520"/>
                </a:lnSpc>
              </a:pPr>
              <a:r>
                <a:rPr lang="en-US" b="true" sz="2100" i="true">
                  <a:solidFill>
                    <a:srgbClr val="3F3F3F"/>
                  </a:solidFill>
                  <a:latin typeface="Trebuchet MS Bold Italics"/>
                  <a:ea typeface="Trebuchet MS Bold Italics"/>
                  <a:cs typeface="Trebuchet MS Bold Italics"/>
                  <a:sym typeface="Trebuchet MS Bold Italics"/>
                </a:rPr>
                <a:t>people in the EAC region lack access to a voice-compatible digital authentication layer, holding national IDs they cannot use remotely from a basic phone.</a:t>
              </a:r>
            </a:p>
          </p:txBody>
        </p:sp>
      </p:grpSp>
      <p:grpSp>
        <p:nvGrpSpPr>
          <p:cNvPr name="Group 12" id="12"/>
          <p:cNvGrpSpPr/>
          <p:nvPr/>
        </p:nvGrpSpPr>
        <p:grpSpPr>
          <a:xfrm rot="0">
            <a:off x="1409700" y="1712595"/>
            <a:ext cx="1352550" cy="1352550"/>
            <a:chOff x="0" y="0"/>
            <a:chExt cx="1803400" cy="1803400"/>
          </a:xfrm>
        </p:grpSpPr>
        <p:sp>
          <p:nvSpPr>
            <p:cNvPr name="Freeform 13" id="13"/>
            <p:cNvSpPr/>
            <p:nvPr/>
          </p:nvSpPr>
          <p:spPr>
            <a:xfrm flipH="false" flipV="false" rot="0">
              <a:off x="0" y="0"/>
              <a:ext cx="1803400" cy="1803400"/>
            </a:xfrm>
            <a:custGeom>
              <a:avLst/>
              <a:gdLst/>
              <a:ahLst/>
              <a:cxnLst/>
              <a:rect r="r" b="b" t="t" l="l"/>
              <a:pathLst>
                <a:path h="1803400" w="1803400">
                  <a:moveTo>
                    <a:pt x="0" y="901700"/>
                  </a:moveTo>
                  <a:cubicBezTo>
                    <a:pt x="0" y="403733"/>
                    <a:pt x="403733" y="0"/>
                    <a:pt x="901700" y="0"/>
                  </a:cubicBezTo>
                  <a:cubicBezTo>
                    <a:pt x="1399667" y="0"/>
                    <a:pt x="1803400" y="403733"/>
                    <a:pt x="1803400" y="901700"/>
                  </a:cubicBezTo>
                  <a:cubicBezTo>
                    <a:pt x="1803400" y="1399667"/>
                    <a:pt x="1399667" y="1803400"/>
                    <a:pt x="901700" y="1803400"/>
                  </a:cubicBezTo>
                  <a:cubicBezTo>
                    <a:pt x="403733" y="1803400"/>
                    <a:pt x="0" y="1399667"/>
                    <a:pt x="0" y="901700"/>
                  </a:cubicBezTo>
                  <a:close/>
                </a:path>
              </a:pathLst>
            </a:custGeom>
            <a:solidFill>
              <a:srgbClr val="284181"/>
            </a:solidFill>
          </p:spPr>
        </p:sp>
      </p:grpSp>
      <p:sp>
        <p:nvSpPr>
          <p:cNvPr name="Freeform 14" id="14"/>
          <p:cNvSpPr/>
          <p:nvPr/>
        </p:nvSpPr>
        <p:spPr>
          <a:xfrm flipH="false" flipV="false" rot="0">
            <a:off x="1754981" y="2057876"/>
            <a:ext cx="661988" cy="661988"/>
          </a:xfrm>
          <a:custGeom>
            <a:avLst/>
            <a:gdLst/>
            <a:ahLst/>
            <a:cxnLst/>
            <a:rect r="r" b="b" t="t" l="l"/>
            <a:pathLst>
              <a:path h="661988" w="661988">
                <a:moveTo>
                  <a:pt x="0" y="0"/>
                </a:moveTo>
                <a:lnTo>
                  <a:pt x="661988" y="0"/>
                </a:lnTo>
                <a:lnTo>
                  <a:pt x="661988" y="661988"/>
                </a:lnTo>
                <a:lnTo>
                  <a:pt x="0" y="6619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5" id="15"/>
          <p:cNvGrpSpPr/>
          <p:nvPr/>
        </p:nvGrpSpPr>
        <p:grpSpPr>
          <a:xfrm rot="0">
            <a:off x="3302479" y="4164770"/>
            <a:ext cx="4491340" cy="1957460"/>
            <a:chOff x="0" y="0"/>
            <a:chExt cx="5988454" cy="2609946"/>
          </a:xfrm>
        </p:grpSpPr>
        <p:sp>
          <p:nvSpPr>
            <p:cNvPr name="Freeform 16" id="16"/>
            <p:cNvSpPr/>
            <p:nvPr/>
          </p:nvSpPr>
          <p:spPr>
            <a:xfrm flipH="false" flipV="false" rot="0">
              <a:off x="0" y="0"/>
              <a:ext cx="5988458" cy="2609940"/>
            </a:xfrm>
            <a:custGeom>
              <a:avLst/>
              <a:gdLst/>
              <a:ahLst/>
              <a:cxnLst/>
              <a:rect r="r" b="b" t="t" l="l"/>
              <a:pathLst>
                <a:path h="2609940" w="5988458">
                  <a:moveTo>
                    <a:pt x="0" y="0"/>
                  </a:moveTo>
                  <a:lnTo>
                    <a:pt x="5988458" y="0"/>
                  </a:lnTo>
                  <a:lnTo>
                    <a:pt x="5988458" y="2609940"/>
                  </a:lnTo>
                  <a:lnTo>
                    <a:pt x="0" y="2609940"/>
                  </a:lnTo>
                  <a:close/>
                </a:path>
              </a:pathLst>
            </a:custGeom>
            <a:blipFill>
              <a:blip r:embed="rId3">
                <a:alphaModFix amt="0"/>
              </a:blip>
              <a:stretch>
                <a:fillRect l="-9157" t="0" r="-2679" b="0"/>
              </a:stretch>
            </a:blipFill>
          </p:spPr>
        </p:sp>
        <p:sp>
          <p:nvSpPr>
            <p:cNvPr name="TextBox 17" id="17"/>
            <p:cNvSpPr txBox="true"/>
            <p:nvPr/>
          </p:nvSpPr>
          <p:spPr>
            <a:xfrm>
              <a:off x="0" y="47625"/>
              <a:ext cx="5988454" cy="2562321"/>
            </a:xfrm>
            <a:prstGeom prst="rect">
              <a:avLst/>
            </a:prstGeom>
          </p:spPr>
          <p:txBody>
            <a:bodyPr anchor="ctr" rtlCol="false" tIns="0" lIns="0" bIns="0" rIns="0"/>
            <a:lstStyle/>
            <a:p>
              <a:pPr algn="l">
                <a:lnSpc>
                  <a:spcPts val="5184"/>
                </a:lnSpc>
              </a:pPr>
              <a:r>
                <a:rPr lang="en-US" b="true" sz="4800" i="true">
                  <a:solidFill>
                    <a:srgbClr val="00BFDF"/>
                  </a:solidFill>
                  <a:latin typeface="Trebuchet MS Bold Italics"/>
                  <a:ea typeface="Trebuchet MS Bold Italics"/>
                  <a:cs typeface="Trebuchet MS Bold Italics"/>
                  <a:sym typeface="Trebuchet MS Bold Italics"/>
                </a:rPr>
                <a:t>60</a:t>
              </a:r>
              <a:r>
                <a:rPr lang="en-US" b="true" sz="4800" i="true">
                  <a:solidFill>
                    <a:srgbClr val="00BFDF"/>
                  </a:solidFill>
                  <a:latin typeface="Trebuchet MS Bold Italics"/>
                  <a:ea typeface="Trebuchet MS Bold Italics"/>
                  <a:cs typeface="Trebuchet MS Bold Italics"/>
                  <a:sym typeface="Trebuchet MS Bold Italics"/>
                </a:rPr>
                <a:t>%+</a:t>
              </a:r>
            </a:p>
            <a:p>
              <a:pPr algn="l">
                <a:lnSpc>
                  <a:spcPts val="2520"/>
                </a:lnSpc>
              </a:pPr>
              <a:r>
                <a:rPr lang="en-US" b="true" sz="2100" i="true">
                  <a:solidFill>
                    <a:srgbClr val="3F3F3F"/>
                  </a:solidFill>
                  <a:latin typeface="Trebuchet MS Bold Italics"/>
                  <a:ea typeface="Trebuchet MS Bold Italics"/>
                  <a:cs typeface="Trebuchet MS Bold Italics"/>
                  <a:sym typeface="Trebuchet MS Bold Italics"/>
                </a:rPr>
                <a:t>Direct beneficiaries are women.(Inua Jamii's 763,000 older persons beneficiaries are women).</a:t>
              </a:r>
            </a:p>
          </p:txBody>
        </p:sp>
      </p:grpSp>
      <p:grpSp>
        <p:nvGrpSpPr>
          <p:cNvPr name="Group 18" id="18"/>
          <p:cNvGrpSpPr/>
          <p:nvPr/>
        </p:nvGrpSpPr>
        <p:grpSpPr>
          <a:xfrm rot="0">
            <a:off x="1409700" y="4282735"/>
            <a:ext cx="1352550" cy="1352550"/>
            <a:chOff x="0" y="0"/>
            <a:chExt cx="1803400" cy="1803400"/>
          </a:xfrm>
        </p:grpSpPr>
        <p:sp>
          <p:nvSpPr>
            <p:cNvPr name="Freeform 19" id="19"/>
            <p:cNvSpPr/>
            <p:nvPr/>
          </p:nvSpPr>
          <p:spPr>
            <a:xfrm flipH="false" flipV="false" rot="0">
              <a:off x="0" y="0"/>
              <a:ext cx="1803400" cy="1803400"/>
            </a:xfrm>
            <a:custGeom>
              <a:avLst/>
              <a:gdLst/>
              <a:ahLst/>
              <a:cxnLst/>
              <a:rect r="r" b="b" t="t" l="l"/>
              <a:pathLst>
                <a:path h="1803400" w="1803400">
                  <a:moveTo>
                    <a:pt x="0" y="901700"/>
                  </a:moveTo>
                  <a:cubicBezTo>
                    <a:pt x="0" y="403733"/>
                    <a:pt x="403733" y="0"/>
                    <a:pt x="901700" y="0"/>
                  </a:cubicBezTo>
                  <a:cubicBezTo>
                    <a:pt x="1399667" y="0"/>
                    <a:pt x="1803400" y="403733"/>
                    <a:pt x="1803400" y="901700"/>
                  </a:cubicBezTo>
                  <a:cubicBezTo>
                    <a:pt x="1803400" y="1399667"/>
                    <a:pt x="1399667" y="1803400"/>
                    <a:pt x="901700" y="1803400"/>
                  </a:cubicBezTo>
                  <a:cubicBezTo>
                    <a:pt x="403733" y="1803400"/>
                    <a:pt x="0" y="1399667"/>
                    <a:pt x="0" y="901700"/>
                  </a:cubicBezTo>
                  <a:close/>
                </a:path>
              </a:pathLst>
            </a:custGeom>
            <a:solidFill>
              <a:srgbClr val="00BFDF"/>
            </a:solidFill>
          </p:spPr>
        </p:sp>
      </p:grpSp>
      <p:sp>
        <p:nvSpPr>
          <p:cNvPr name="Freeform 20" id="20"/>
          <p:cNvSpPr/>
          <p:nvPr/>
        </p:nvSpPr>
        <p:spPr>
          <a:xfrm flipH="false" flipV="false" rot="0">
            <a:off x="1754981" y="4626169"/>
            <a:ext cx="661988" cy="665664"/>
          </a:xfrm>
          <a:custGeom>
            <a:avLst/>
            <a:gdLst/>
            <a:ahLst/>
            <a:cxnLst/>
            <a:rect r="r" b="b" t="t" l="l"/>
            <a:pathLst>
              <a:path h="665664" w="661988">
                <a:moveTo>
                  <a:pt x="0" y="0"/>
                </a:moveTo>
                <a:lnTo>
                  <a:pt x="661988" y="0"/>
                </a:lnTo>
                <a:lnTo>
                  <a:pt x="661988" y="665664"/>
                </a:lnTo>
                <a:lnTo>
                  <a:pt x="0" y="6656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1" id="21"/>
          <p:cNvGrpSpPr/>
          <p:nvPr/>
        </p:nvGrpSpPr>
        <p:grpSpPr>
          <a:xfrm rot="0">
            <a:off x="3295337" y="6938591"/>
            <a:ext cx="4200363" cy="1755085"/>
            <a:chOff x="0" y="0"/>
            <a:chExt cx="5600484" cy="2340113"/>
          </a:xfrm>
        </p:grpSpPr>
        <p:sp>
          <p:nvSpPr>
            <p:cNvPr name="Freeform 22" id="22"/>
            <p:cNvSpPr/>
            <p:nvPr/>
          </p:nvSpPr>
          <p:spPr>
            <a:xfrm flipH="false" flipV="false" rot="0">
              <a:off x="0" y="0"/>
              <a:ext cx="5600488" cy="2340118"/>
            </a:xfrm>
            <a:custGeom>
              <a:avLst/>
              <a:gdLst/>
              <a:ahLst/>
              <a:cxnLst/>
              <a:rect r="r" b="b" t="t" l="l"/>
              <a:pathLst>
                <a:path h="2340118" w="5600488">
                  <a:moveTo>
                    <a:pt x="0" y="0"/>
                  </a:moveTo>
                  <a:lnTo>
                    <a:pt x="5600488" y="0"/>
                  </a:lnTo>
                  <a:lnTo>
                    <a:pt x="5600488" y="2340118"/>
                  </a:lnTo>
                  <a:lnTo>
                    <a:pt x="0" y="2340118"/>
                  </a:lnTo>
                  <a:close/>
                </a:path>
              </a:pathLst>
            </a:custGeom>
            <a:blipFill>
              <a:blip r:embed="rId3">
                <a:alphaModFix amt="0"/>
              </a:blip>
              <a:stretch>
                <a:fillRect l="0" t="-73" r="0" b="6808"/>
              </a:stretch>
            </a:blipFill>
          </p:spPr>
        </p:sp>
        <p:sp>
          <p:nvSpPr>
            <p:cNvPr name="TextBox 23" id="23"/>
            <p:cNvSpPr txBox="true"/>
            <p:nvPr/>
          </p:nvSpPr>
          <p:spPr>
            <a:xfrm>
              <a:off x="0" y="47625"/>
              <a:ext cx="5600484" cy="2292488"/>
            </a:xfrm>
            <a:prstGeom prst="rect">
              <a:avLst/>
            </a:prstGeom>
          </p:spPr>
          <p:txBody>
            <a:bodyPr anchor="ctr" rtlCol="false" tIns="0" lIns="0" bIns="0" rIns="0"/>
            <a:lstStyle/>
            <a:p>
              <a:pPr algn="l">
                <a:lnSpc>
                  <a:spcPts val="5184"/>
                </a:lnSpc>
              </a:pPr>
              <a:r>
                <a:rPr lang="en-US" b="true" sz="4800" i="true">
                  <a:solidFill>
                    <a:srgbClr val="58595B"/>
                  </a:solidFill>
                  <a:latin typeface="Trebuchet MS Bold Italics"/>
                  <a:ea typeface="Trebuchet MS Bold Italics"/>
                  <a:cs typeface="Trebuchet MS Bold Italics"/>
                  <a:sym typeface="Trebuchet MS Bold Italics"/>
                </a:rPr>
                <a:t>50%</a:t>
              </a:r>
            </a:p>
            <a:p>
              <a:pPr algn="l">
                <a:lnSpc>
                  <a:spcPts val="2520"/>
                </a:lnSpc>
              </a:pPr>
              <a:r>
                <a:rPr lang="en-US" b="true" sz="2100" i="true">
                  <a:solidFill>
                    <a:srgbClr val="3F3F3F"/>
                  </a:solidFill>
                  <a:latin typeface="Trebuchet MS Bold Italics"/>
                  <a:ea typeface="Trebuchet MS Bold Italics"/>
                  <a:cs typeface="Trebuchet MS Bold Italics"/>
                  <a:sym typeface="Trebuchet MS Bold Italics"/>
                </a:rPr>
                <a:t>With Voice ID, CARE's operational costs were reduced by 50% (GSMA Voice ID pilot)</a:t>
              </a:r>
            </a:p>
          </p:txBody>
        </p:sp>
      </p:grpSp>
      <p:grpSp>
        <p:nvGrpSpPr>
          <p:cNvPr name="Group 24" id="24"/>
          <p:cNvGrpSpPr/>
          <p:nvPr/>
        </p:nvGrpSpPr>
        <p:grpSpPr>
          <a:xfrm rot="0">
            <a:off x="1409700" y="6938591"/>
            <a:ext cx="1352550" cy="1352550"/>
            <a:chOff x="0" y="0"/>
            <a:chExt cx="1803400" cy="1803400"/>
          </a:xfrm>
        </p:grpSpPr>
        <p:sp>
          <p:nvSpPr>
            <p:cNvPr name="Freeform 25" id="25"/>
            <p:cNvSpPr/>
            <p:nvPr/>
          </p:nvSpPr>
          <p:spPr>
            <a:xfrm flipH="false" flipV="false" rot="0">
              <a:off x="0" y="0"/>
              <a:ext cx="1803400" cy="1803400"/>
            </a:xfrm>
            <a:custGeom>
              <a:avLst/>
              <a:gdLst/>
              <a:ahLst/>
              <a:cxnLst/>
              <a:rect r="r" b="b" t="t" l="l"/>
              <a:pathLst>
                <a:path h="1803400" w="1803400">
                  <a:moveTo>
                    <a:pt x="0" y="901700"/>
                  </a:moveTo>
                  <a:cubicBezTo>
                    <a:pt x="0" y="403733"/>
                    <a:pt x="403733" y="0"/>
                    <a:pt x="901700" y="0"/>
                  </a:cubicBezTo>
                  <a:cubicBezTo>
                    <a:pt x="1399667" y="0"/>
                    <a:pt x="1803400" y="403733"/>
                    <a:pt x="1803400" y="901700"/>
                  </a:cubicBezTo>
                  <a:cubicBezTo>
                    <a:pt x="1803400" y="1399667"/>
                    <a:pt x="1399667" y="1803400"/>
                    <a:pt x="901700" y="1803400"/>
                  </a:cubicBezTo>
                  <a:cubicBezTo>
                    <a:pt x="403733" y="1803400"/>
                    <a:pt x="0" y="1399667"/>
                    <a:pt x="0" y="901700"/>
                  </a:cubicBezTo>
                  <a:close/>
                </a:path>
              </a:pathLst>
            </a:custGeom>
            <a:solidFill>
              <a:srgbClr val="595959"/>
            </a:solidFill>
          </p:spPr>
        </p:sp>
      </p:grpSp>
      <p:sp>
        <p:nvSpPr>
          <p:cNvPr name="Freeform 26" id="26"/>
          <p:cNvSpPr/>
          <p:nvPr/>
        </p:nvSpPr>
        <p:spPr>
          <a:xfrm flipH="false" flipV="false" rot="0">
            <a:off x="1758658" y="7289387"/>
            <a:ext cx="654634" cy="650958"/>
          </a:xfrm>
          <a:custGeom>
            <a:avLst/>
            <a:gdLst/>
            <a:ahLst/>
            <a:cxnLst/>
            <a:rect r="r" b="b" t="t" l="l"/>
            <a:pathLst>
              <a:path h="650958" w="654634">
                <a:moveTo>
                  <a:pt x="0" y="0"/>
                </a:moveTo>
                <a:lnTo>
                  <a:pt x="654634" y="0"/>
                </a:lnTo>
                <a:lnTo>
                  <a:pt x="654634" y="650958"/>
                </a:lnTo>
                <a:lnTo>
                  <a:pt x="0" y="65095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pic>
        <p:nvPicPr>
          <p:cNvPr name="Picture 27" id="27"/>
          <p:cNvPicPr>
            <a:picLocks noChangeAspect="true"/>
          </p:cNvPicPr>
          <p:nvPr/>
        </p:nvPicPr>
        <p:blipFill>
          <a:blip r:embed="rId10"/>
          <a:stretch>
            <a:fillRect/>
          </a:stretch>
        </p:blipFill>
        <p:spPr>
          <a:xfrm rot="0">
            <a:off x="11459395" y="899287"/>
            <a:ext cx="6724622" cy="6599691"/>
          </a:xfrm>
          <a:prstGeom prst="rect">
            <a:avLst/>
          </a:prstGeom>
        </p:spPr>
      </p:pic>
      <p:sp>
        <p:nvSpPr>
          <p:cNvPr name="Freeform 28" id="28"/>
          <p:cNvSpPr/>
          <p:nvPr/>
        </p:nvSpPr>
        <p:spPr>
          <a:xfrm flipH="false" flipV="false" rot="0">
            <a:off x="14313532" y="3351190"/>
            <a:ext cx="1277607" cy="1302991"/>
          </a:xfrm>
          <a:custGeom>
            <a:avLst/>
            <a:gdLst/>
            <a:ahLst/>
            <a:cxnLst/>
            <a:rect r="r" b="b" t="t" l="l"/>
            <a:pathLst>
              <a:path h="1302991" w="1277607">
                <a:moveTo>
                  <a:pt x="0" y="0"/>
                </a:moveTo>
                <a:lnTo>
                  <a:pt x="1277607" y="0"/>
                </a:lnTo>
                <a:lnTo>
                  <a:pt x="1277607" y="1302992"/>
                </a:lnTo>
                <a:lnTo>
                  <a:pt x="0" y="130299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9" id="29"/>
          <p:cNvGrpSpPr/>
          <p:nvPr/>
        </p:nvGrpSpPr>
        <p:grpSpPr>
          <a:xfrm rot="0">
            <a:off x="15054939" y="2686"/>
            <a:ext cx="3239995" cy="522989"/>
            <a:chOff x="0" y="0"/>
            <a:chExt cx="4319994" cy="697319"/>
          </a:xfrm>
        </p:grpSpPr>
        <p:sp>
          <p:nvSpPr>
            <p:cNvPr name="Freeform 30" id="30"/>
            <p:cNvSpPr/>
            <p:nvPr/>
          </p:nvSpPr>
          <p:spPr>
            <a:xfrm flipH="false" flipV="false" rot="0">
              <a:off x="0" y="0"/>
              <a:ext cx="4320032" cy="697357"/>
            </a:xfrm>
            <a:custGeom>
              <a:avLst/>
              <a:gdLst/>
              <a:ahLst/>
              <a:cxnLst/>
              <a:rect r="r" b="b" t="t" l="l"/>
              <a:pathLst>
                <a:path h="697357" w="4320032">
                  <a:moveTo>
                    <a:pt x="0" y="0"/>
                  </a:moveTo>
                  <a:lnTo>
                    <a:pt x="4320032" y="0"/>
                  </a:lnTo>
                  <a:lnTo>
                    <a:pt x="4320032" y="697357"/>
                  </a:lnTo>
                  <a:lnTo>
                    <a:pt x="0" y="697357"/>
                  </a:lnTo>
                  <a:close/>
                </a:path>
              </a:pathLst>
            </a:custGeom>
            <a:solidFill>
              <a:srgbClr val="F79333"/>
            </a:solidFill>
          </p:spPr>
        </p:sp>
        <p:sp>
          <p:nvSpPr>
            <p:cNvPr name="TextBox 31" id="31"/>
            <p:cNvSpPr txBox="true"/>
            <p:nvPr/>
          </p:nvSpPr>
          <p:spPr>
            <a:xfrm>
              <a:off x="0" y="-9525"/>
              <a:ext cx="4319994" cy="706844"/>
            </a:xfrm>
            <a:prstGeom prst="rect">
              <a:avLst/>
            </a:prstGeom>
          </p:spPr>
          <p:txBody>
            <a:bodyPr anchor="ctr" rtlCol="false" tIns="50800" lIns="50800" bIns="50800" rIns="50800"/>
            <a:lstStyle/>
            <a:p>
              <a:pPr algn="ctr">
                <a:lnSpc>
                  <a:spcPts val="3240"/>
                </a:lnSpc>
              </a:pPr>
              <a:r>
                <a:rPr lang="en-US" sz="2700">
                  <a:solidFill>
                    <a:srgbClr val="FFFFFF"/>
                  </a:solidFill>
                  <a:latin typeface="Trebuchet MS"/>
                  <a:ea typeface="Trebuchet MS"/>
                  <a:cs typeface="Trebuchet MS"/>
                  <a:sym typeface="Trebuchet MS"/>
                </a:rPr>
                <a:t>Time: 1 min 30 sec</a:t>
              </a:r>
            </a:p>
          </p:txBody>
        </p:sp>
      </p:gr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140">
            <a:off x="654872" y="9575359"/>
            <a:ext cx="11852405" cy="0"/>
          </a:xfrm>
          <a:prstGeom prst="line">
            <a:avLst/>
          </a:prstGeom>
          <a:ln cap="rnd" w="9525">
            <a:solidFill>
              <a:srgbClr val="284181"/>
            </a:solidFill>
            <a:prstDash val="solid"/>
            <a:headEnd type="none" len="sm" w="sm"/>
            <a:tailEnd type="none" len="sm" w="sm"/>
          </a:ln>
        </p:spPr>
      </p:sp>
      <p:sp>
        <p:nvSpPr>
          <p:cNvPr name="AutoShape 3" id="3"/>
          <p:cNvSpPr/>
          <p:nvPr/>
        </p:nvSpPr>
        <p:spPr>
          <a:xfrm rot="10020">
            <a:off x="12686767" y="9575359"/>
            <a:ext cx="4889106" cy="0"/>
          </a:xfrm>
          <a:prstGeom prst="line">
            <a:avLst/>
          </a:prstGeom>
          <a:ln cap="rnd" w="9525">
            <a:solidFill>
              <a:srgbClr val="00BFDF"/>
            </a:solidFill>
            <a:prstDash val="solid"/>
            <a:headEnd type="none" len="sm" w="sm"/>
            <a:tailEnd type="none" len="sm" w="sm"/>
          </a:ln>
        </p:spPr>
      </p:sp>
      <p:sp>
        <p:nvSpPr>
          <p:cNvPr name="TextBox 4" id="4"/>
          <p:cNvSpPr txBox="true"/>
          <p:nvPr/>
        </p:nvSpPr>
        <p:spPr>
          <a:xfrm rot="0">
            <a:off x="681361" y="9781699"/>
            <a:ext cx="960149" cy="273901"/>
          </a:xfrm>
          <a:prstGeom prst="rect">
            <a:avLst/>
          </a:prstGeom>
        </p:spPr>
        <p:txBody>
          <a:bodyPr anchor="t" rtlCol="false" tIns="0" lIns="0" bIns="0" rIns="0">
            <a:spAutoFit/>
          </a:bodyPr>
          <a:lstStyle/>
          <a:p>
            <a:pPr algn="l">
              <a:lnSpc>
                <a:spcPts val="1620"/>
              </a:lnSpc>
            </a:pPr>
            <a:r>
              <a:rPr lang="en-US" sz="1350">
                <a:solidFill>
                  <a:srgbClr val="595959"/>
                </a:solidFill>
                <a:latin typeface="Trebuchet MS"/>
                <a:ea typeface="Trebuchet MS"/>
                <a:cs typeface="Trebuchet MS"/>
                <a:sym typeface="Trebuchet MS"/>
              </a:rPr>
              <a:t>‹#›</a:t>
            </a:r>
          </a:p>
        </p:txBody>
      </p:sp>
      <p:sp>
        <p:nvSpPr>
          <p:cNvPr name="TextBox 5" id="5"/>
          <p:cNvSpPr txBox="true"/>
          <p:nvPr/>
        </p:nvSpPr>
        <p:spPr>
          <a:xfrm rot="0">
            <a:off x="5261715" y="9851822"/>
            <a:ext cx="7764570" cy="203778"/>
          </a:xfrm>
          <a:prstGeom prst="rect">
            <a:avLst/>
          </a:prstGeom>
        </p:spPr>
        <p:txBody>
          <a:bodyPr anchor="t" rtlCol="false" tIns="0" lIns="0" bIns="0" rIns="0">
            <a:spAutoFit/>
          </a:bodyPr>
          <a:lstStyle/>
          <a:p>
            <a:pPr algn="ctr">
              <a:lnSpc>
                <a:spcPts val="1296"/>
              </a:lnSpc>
            </a:pPr>
            <a:r>
              <a:rPr lang="en-US" sz="1200">
                <a:solidFill>
                  <a:srgbClr val="595959"/>
                </a:solidFill>
                <a:latin typeface="Trebuchet MS"/>
                <a:ea typeface="Trebuchet MS"/>
                <a:cs typeface="Trebuchet MS"/>
                <a:sym typeface="Trebuchet MS"/>
              </a:rPr>
              <a:t> All rights reserved. This document is proprietary and confidential.</a:t>
            </a:r>
          </a:p>
        </p:txBody>
      </p:sp>
      <p:sp>
        <p:nvSpPr>
          <p:cNvPr name="TextBox 6" id="6"/>
          <p:cNvSpPr txBox="true"/>
          <p:nvPr/>
        </p:nvSpPr>
        <p:spPr>
          <a:xfrm rot="0">
            <a:off x="603371" y="373380"/>
            <a:ext cx="16928840" cy="433959"/>
          </a:xfrm>
          <a:prstGeom prst="rect">
            <a:avLst/>
          </a:prstGeom>
        </p:spPr>
        <p:txBody>
          <a:bodyPr anchor="t" rtlCol="false" tIns="0" lIns="0" bIns="0" rIns="0">
            <a:spAutoFit/>
          </a:bodyPr>
          <a:lstStyle/>
          <a:p>
            <a:pPr algn="l">
              <a:lnSpc>
                <a:spcPts val="3240"/>
              </a:lnSpc>
            </a:pPr>
            <a:r>
              <a:rPr lang="en-US" sz="3000" b="true">
                <a:solidFill>
                  <a:srgbClr val="284181"/>
                </a:solidFill>
                <a:latin typeface="Trebuchet MS Bold"/>
                <a:ea typeface="Trebuchet MS Bold"/>
                <a:cs typeface="Trebuchet MS Bold"/>
                <a:sym typeface="Trebuchet MS Bold"/>
              </a:rPr>
              <a:t>Challenges and stakeholder mapping</a:t>
            </a:r>
          </a:p>
        </p:txBody>
      </p:sp>
      <p:graphicFrame>
        <p:nvGraphicFramePr>
          <p:cNvPr name="Table 7" id="7"/>
          <p:cNvGraphicFramePr>
            <a:graphicFrameLocks noGrp="true"/>
          </p:cNvGraphicFramePr>
          <p:nvPr/>
        </p:nvGraphicFramePr>
        <p:xfrm>
          <a:off x="654877" y="1418363"/>
          <a:ext cx="16802100" cy="7357580"/>
        </p:xfrm>
        <a:graphic>
          <a:graphicData uri="http://schemas.openxmlformats.org/drawingml/2006/table">
            <a:tbl>
              <a:tblPr/>
              <a:tblGrid>
                <a:gridCol w="5780130"/>
                <a:gridCol w="5765872"/>
                <a:gridCol w="5256098"/>
              </a:tblGrid>
              <a:tr h="1406918">
                <a:tc>
                  <a:txBody>
                    <a:bodyPr anchor="t" rtlCol="false"/>
                    <a:lstStyle/>
                    <a:p>
                      <a:pPr algn="ctr">
                        <a:lnSpc>
                          <a:spcPts val="2879"/>
                        </a:lnSpc>
                        <a:defRPr/>
                      </a:pPr>
                      <a:r>
                        <a:rPr lang="en-US" sz="2400">
                          <a:solidFill>
                            <a:srgbClr val="FFFFFF"/>
                          </a:solidFill>
                          <a:latin typeface="Trebuchet MS"/>
                          <a:ea typeface="Trebuchet MS"/>
                          <a:cs typeface="Trebuchet MS"/>
                          <a:sym typeface="Trebuchet MS"/>
                        </a:rPr>
                        <a:t>Challenges</a:t>
                      </a:r>
                      <a:endParaRPr lang="en-US" sz="1100"/>
                    </a:p>
                  </a:txBody>
                  <a:tcPr marL="63077" marR="63077" marT="63077" marB="63077"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284181"/>
                    </a:solidFill>
                  </a:tcPr>
                </a:tc>
                <a:tc>
                  <a:txBody>
                    <a:bodyPr anchor="t" rtlCol="false"/>
                    <a:lstStyle/>
                    <a:p>
                      <a:pPr algn="ctr">
                        <a:lnSpc>
                          <a:spcPts val="2879"/>
                        </a:lnSpc>
                        <a:defRPr/>
                      </a:pPr>
                      <a:r>
                        <a:rPr lang="en-US" sz="2400">
                          <a:solidFill>
                            <a:srgbClr val="FFFFFF"/>
                          </a:solidFill>
                          <a:latin typeface="Trebuchet MS"/>
                          <a:ea typeface="Trebuchet MS"/>
                          <a:cs typeface="Trebuchet MS"/>
                          <a:sym typeface="Trebuchet MS"/>
                        </a:rPr>
                        <a:t>Solution</a:t>
                      </a:r>
                      <a:endParaRPr lang="en-US" sz="1100"/>
                    </a:p>
                  </a:txBody>
                  <a:tcPr marL="63077" marR="63077" marT="63077" marB="63077"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284181"/>
                    </a:solidFill>
                  </a:tcPr>
                </a:tc>
                <a:tc>
                  <a:txBody>
                    <a:bodyPr anchor="t" rtlCol="false"/>
                    <a:lstStyle/>
                    <a:p>
                      <a:pPr algn="ctr">
                        <a:lnSpc>
                          <a:spcPts val="2879"/>
                        </a:lnSpc>
                        <a:defRPr/>
                      </a:pPr>
                      <a:r>
                        <a:rPr lang="en-US" sz="2400">
                          <a:solidFill>
                            <a:srgbClr val="FFFFFF"/>
                          </a:solidFill>
                          <a:latin typeface="Trebuchet MS"/>
                          <a:ea typeface="Trebuchet MS"/>
                          <a:cs typeface="Trebuchet MS"/>
                          <a:sym typeface="Trebuchet MS"/>
                        </a:rPr>
                        <a:t>Stakeholder</a:t>
                      </a:r>
                      <a:endParaRPr lang="en-US" sz="1100"/>
                    </a:p>
                  </a:txBody>
                  <a:tcPr marL="63077" marR="63077" marT="63077" marB="63077"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284181"/>
                    </a:solidFill>
                  </a:tcPr>
                </a:tc>
              </a:tr>
              <a:tr h="1687928">
                <a:tc>
                  <a:txBody>
                    <a:bodyPr anchor="t" rtlCol="false"/>
                    <a:lstStyle/>
                    <a:p>
                      <a:pPr algn="l">
                        <a:lnSpc>
                          <a:spcPts val="2340"/>
                        </a:lnSpc>
                        <a:defRPr/>
                      </a:pPr>
                      <a:r>
                        <a:rPr lang="en-US" sz="1950">
                          <a:solidFill>
                            <a:srgbClr val="595959"/>
                          </a:solidFill>
                          <a:latin typeface="Trebuchet MS"/>
                          <a:ea typeface="Trebuchet MS"/>
                          <a:cs typeface="Trebuchet MS"/>
                          <a:sym typeface="Trebuchet MS"/>
                        </a:rPr>
                        <a:t>Cultural distrust of voice recording among rural and refugee communities; fear that voiceprints may be misused for surveillance or shared with authorities</a:t>
                      </a:r>
                      <a:endParaRPr lang="en-US" sz="1100"/>
                    </a:p>
                  </a:txBody>
                  <a:tcPr marL="63077" marR="63077" marT="63077" marB="63077" anchor="ctr">
                    <a:lnL cmpd="sng" algn="ctr" cap="flat" w="9525">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2700">
                      <a:solidFill>
                        <a:srgbClr val="00BFDF"/>
                      </a:solidFill>
                      <a:prstDash val="solid"/>
                      <a:round/>
                      <a:headEnd type="none" w="med" len="med"/>
                      <a:tailEnd type="none" w="med" len="med"/>
                    </a:lnB>
                  </a:tcPr>
                </a:tc>
                <a:tc>
                  <a:txBody>
                    <a:bodyPr anchor="t" rtlCol="false"/>
                    <a:lstStyle/>
                    <a:p>
                      <a:pPr algn="l">
                        <a:lnSpc>
                          <a:spcPts val="2340"/>
                        </a:lnSpc>
                        <a:defRPr/>
                      </a:pPr>
                      <a:r>
                        <a:rPr lang="en-US" sz="1950">
                          <a:solidFill>
                            <a:srgbClr val="595959"/>
                          </a:solidFill>
                          <a:latin typeface="Trebuchet MS"/>
                          <a:ea typeface="Trebuchet MS"/>
                          <a:cs typeface="Trebuchet MS"/>
                          <a:sym typeface="Trebuchet MS"/>
                        </a:rPr>
                        <a:t>Community consent workshops led by trusted local health workers and civil society organisations; audio explanations of rights in local languages before any enrolment; strict opt-in only participation with multimodal fallbacks</a:t>
                      </a:r>
                      <a:endParaRPr lang="en-US" sz="1100"/>
                    </a:p>
                  </a:txBody>
                  <a:tcPr marL="63077" marR="63077" marT="63077" marB="63077"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2700">
                      <a:solidFill>
                        <a:srgbClr val="00BFDF"/>
                      </a:solidFill>
                      <a:prstDash val="solid"/>
                      <a:round/>
                      <a:headEnd type="none" w="med" len="med"/>
                      <a:tailEnd type="none" w="med" len="med"/>
                    </a:lnB>
                  </a:tcPr>
                </a:tc>
                <a:tc>
                  <a:txBody>
                    <a:bodyPr anchor="t" rtlCol="false"/>
                    <a:lstStyle/>
                    <a:p>
                      <a:pPr algn="l">
                        <a:lnSpc>
                          <a:spcPts val="2340"/>
                        </a:lnSpc>
                        <a:defRPr/>
                      </a:pPr>
                      <a:r>
                        <a:rPr lang="en-US" sz="1950">
                          <a:solidFill>
                            <a:srgbClr val="595959"/>
                          </a:solidFill>
                          <a:latin typeface="Trebuchet MS"/>
                          <a:ea typeface="Trebuchet MS"/>
                          <a:cs typeface="Trebuchet MS"/>
                          <a:sym typeface="Trebuchet MS"/>
                        </a:rPr>
                        <a:t>HelpAge Uganda, CARE Somalia, Paradigm Initiative, local refugee community leaders</a:t>
                      </a:r>
                      <a:endParaRPr lang="en-US" sz="1100"/>
                    </a:p>
                  </a:txBody>
                  <a:tcPr marL="63077" marR="63077" marT="63077" marB="63077"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2700">
                      <a:solidFill>
                        <a:srgbClr val="00BFDF"/>
                      </a:solidFill>
                      <a:prstDash val="solid"/>
                      <a:round/>
                      <a:headEnd type="none" w="med" len="med"/>
                      <a:tailEnd type="none" w="med" len="med"/>
                    </a:lnB>
                  </a:tcPr>
                </a:tc>
              </a:tr>
              <a:tr h="2574806">
                <a:tc>
                  <a:txBody>
                    <a:bodyPr anchor="t" rtlCol="false"/>
                    <a:lstStyle/>
                    <a:p>
                      <a:pPr algn="l">
                        <a:lnSpc>
                          <a:spcPts val="2340"/>
                        </a:lnSpc>
                        <a:defRPr/>
                      </a:pPr>
                      <a:r>
                        <a:rPr lang="en-US" sz="1950">
                          <a:solidFill>
                            <a:srgbClr val="595959"/>
                          </a:solidFill>
                          <a:latin typeface="Trebuchet MS"/>
                          <a:ea typeface="Trebuchet MS"/>
                          <a:cs typeface="Trebuchet MS"/>
                          <a:sym typeface="Trebuchet MS"/>
                        </a:rPr>
                        <a:t>Biometric data classification under Kenya Data Protection Act and Uganda PDPA requires regulatory approval before voice templates can be anchored to national ID; telco integration requires direct MNO interconnect agreements beyond Twilio; GSM audio compression degrades voice matching accuracy in field conditions</a:t>
                      </a:r>
                      <a:endParaRPr lang="en-US" sz="1100"/>
                    </a:p>
                  </a:txBody>
                  <a:tcPr marL="63077" marR="63077" marT="63077" marB="63077" anchor="ctr">
                    <a:lnL cmpd="sng" algn="ctr" cap="flat" w="9525">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12700">
                      <a:solidFill>
                        <a:srgbClr val="00BFDF"/>
                      </a:solidFill>
                      <a:prstDash val="solid"/>
                      <a:round/>
                      <a:headEnd type="none" w="med" len="med"/>
                      <a:tailEnd type="none" w="med" len="med"/>
                    </a:lnT>
                    <a:lnB cmpd="sng" algn="ctr" cap="flat" w="12700">
                      <a:solidFill>
                        <a:srgbClr val="595959"/>
                      </a:solidFill>
                      <a:prstDash val="solid"/>
                      <a:round/>
                      <a:headEnd type="none" w="med" len="med"/>
                      <a:tailEnd type="none" w="med" len="med"/>
                    </a:lnB>
                  </a:tcPr>
                </a:tc>
                <a:tc>
                  <a:txBody>
                    <a:bodyPr anchor="t" rtlCol="false"/>
                    <a:lstStyle/>
                    <a:p>
                      <a:pPr algn="l">
                        <a:lnSpc>
                          <a:spcPts val="2340"/>
                        </a:lnSpc>
                        <a:defRPr/>
                      </a:pPr>
                      <a:r>
                        <a:rPr lang="en-US" sz="1950">
                          <a:solidFill>
                            <a:srgbClr val="595959"/>
                          </a:solidFill>
                          <a:latin typeface="Trebuchet MS"/>
                          <a:ea typeface="Trebuchet MS"/>
                          <a:cs typeface="Trebuchet MS"/>
                          <a:sym typeface="Trebuchet MS"/>
                        </a:rPr>
                        <a:t>Engage Kenya ODPC and Uganda NITA-U early for biometric data classification as encrypted non-raw template rather than raw biometric; partner directly with Safaricom, Airtel, and MTN Uganda for GSM short-code integration modelled on Jitambulishe and SautiPass precedents; deploy GSM bandpass filter already built into the audio preprocessing pipeline</a:t>
                      </a:r>
                      <a:endParaRPr lang="en-US" sz="1100"/>
                    </a:p>
                  </a:txBody>
                  <a:tcPr marL="63077" marR="63077" marT="63077" marB="63077"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12700">
                      <a:solidFill>
                        <a:srgbClr val="00BFDF"/>
                      </a:solidFill>
                      <a:prstDash val="solid"/>
                      <a:round/>
                      <a:headEnd type="none" w="med" len="med"/>
                      <a:tailEnd type="none" w="med" len="med"/>
                    </a:lnT>
                    <a:lnB cmpd="sng" algn="ctr" cap="flat" w="12700">
                      <a:solidFill>
                        <a:srgbClr val="595959"/>
                      </a:solidFill>
                      <a:prstDash val="solid"/>
                      <a:round/>
                      <a:headEnd type="none" w="med" len="med"/>
                      <a:tailEnd type="none" w="med" len="med"/>
                    </a:lnB>
                  </a:tcPr>
                </a:tc>
                <a:tc>
                  <a:txBody>
                    <a:bodyPr anchor="t" rtlCol="false"/>
                    <a:lstStyle/>
                    <a:p>
                      <a:pPr algn="l">
                        <a:lnSpc>
                          <a:spcPts val="2340"/>
                        </a:lnSpc>
                        <a:defRPr/>
                      </a:pPr>
                      <a:r>
                        <a:rPr lang="en-US" sz="1950">
                          <a:solidFill>
                            <a:srgbClr val="595959"/>
                          </a:solidFill>
                          <a:latin typeface="Trebuchet MS"/>
                          <a:ea typeface="Trebuchet MS"/>
                          <a:cs typeface="Trebuchet MS"/>
                          <a:sym typeface="Trebuchet MS"/>
                        </a:rPr>
                        <a:t>Kenya ODPC, Uganda NITA-U, Safaricom, Airtel Kenya, MTN Uganda, Kenya NIIMS, Uganda NIRA, Central Bank of Kenya, Bank of Uganda, World Food Programme, GSMA Mobile for Humanitarian Innovation</a:t>
                      </a:r>
                      <a:endParaRPr lang="en-US" sz="1100"/>
                    </a:p>
                  </a:txBody>
                  <a:tcPr marL="63077" marR="63077" marT="63077" marB="63077"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12700">
                      <a:solidFill>
                        <a:srgbClr val="00BFDF"/>
                      </a:solidFill>
                      <a:prstDash val="solid"/>
                      <a:round/>
                      <a:headEnd type="none" w="med" len="med"/>
                      <a:tailEnd type="none" w="med" len="med"/>
                    </a:lnT>
                    <a:lnB cmpd="sng" algn="ctr" cap="flat" w="12700">
                      <a:solidFill>
                        <a:srgbClr val="595959"/>
                      </a:solidFill>
                      <a:prstDash val="solid"/>
                      <a:round/>
                      <a:headEnd type="none" w="med" len="med"/>
                      <a:tailEnd type="none" w="med" len="med"/>
                    </a:lnB>
                  </a:tcPr>
                </a:tc>
              </a:tr>
              <a:tr h="1687928">
                <a:tc>
                  <a:txBody>
                    <a:bodyPr anchor="t" rtlCol="false"/>
                    <a:lstStyle/>
                    <a:p>
                      <a:pPr algn="l">
                        <a:lnSpc>
                          <a:spcPts val="2340"/>
                        </a:lnSpc>
                        <a:defRPr/>
                      </a:pPr>
                      <a:r>
                        <a:rPr lang="en-US" sz="1950">
                          <a:solidFill>
                            <a:srgbClr val="595959"/>
                          </a:solidFill>
                          <a:latin typeface="Trebuchet MS"/>
                          <a:ea typeface="Trebuchet MS"/>
                          <a:cs typeface="Trebuchet MS"/>
                          <a:sym typeface="Trebuchet MS"/>
                        </a:rPr>
                        <a:t>Deepfake audio and replay attacks could spoof the voice biometric layer; SIM-swap attackers could attempt to redirect IVR calls mid-authentication</a:t>
                      </a:r>
                      <a:endParaRPr lang="en-US" sz="1100"/>
                    </a:p>
                  </a:txBody>
                  <a:tcPr marL="63077" marR="63077" marT="63077" marB="63077" anchor="ctr">
                    <a:lnL cmpd="sng" algn="ctr" cap="flat" w="9525">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12700">
                      <a:solidFill>
                        <a:srgbClr val="00BFDF"/>
                      </a:solidFill>
                      <a:prstDash val="solid"/>
                      <a:round/>
                      <a:headEnd type="none" w="med" len="med"/>
                      <a:tailEnd type="none" w="med" len="med"/>
                    </a:lnT>
                    <a:lnB cmpd="sng" algn="ctr" cap="flat" w="12700">
                      <a:solidFill>
                        <a:srgbClr val="595959"/>
                      </a:solidFill>
                      <a:prstDash val="solid"/>
                      <a:round/>
                      <a:headEnd type="none" w="med" len="med"/>
                      <a:tailEnd type="none" w="med" len="med"/>
                    </a:lnB>
                  </a:tcPr>
                </a:tc>
                <a:tc>
                  <a:txBody>
                    <a:bodyPr anchor="t" rtlCol="false"/>
                    <a:lstStyle/>
                    <a:p>
                      <a:pPr algn="l">
                        <a:lnSpc>
                          <a:spcPts val="2340"/>
                        </a:lnSpc>
                        <a:defRPr/>
                      </a:pPr>
                      <a:r>
                        <a:rPr lang="en-US" sz="1950">
                          <a:solidFill>
                            <a:srgbClr val="595959"/>
                          </a:solidFill>
                          <a:latin typeface="Trebuchet MS"/>
                          <a:ea typeface="Trebuchet MS"/>
                          <a:cs typeface="Trebuchet MS"/>
                          <a:sym typeface="Trebuchet MS"/>
                        </a:rPr>
                        <a:t>Randomised challenge phrase generation already implemented prevents replay attacks; anti-spoofing and deepfake detection module planned for MVP; Twilio request signature validation already enforced on all webhook endpoints</a:t>
                      </a:r>
                      <a:endParaRPr lang="en-US" sz="1100"/>
                    </a:p>
                  </a:txBody>
                  <a:tcPr marL="63077" marR="63077" marT="63077" marB="63077"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12700">
                      <a:solidFill>
                        <a:srgbClr val="00BFDF"/>
                      </a:solidFill>
                      <a:prstDash val="solid"/>
                      <a:round/>
                      <a:headEnd type="none" w="med" len="med"/>
                      <a:tailEnd type="none" w="med" len="med"/>
                    </a:lnT>
                    <a:lnB cmpd="sng" algn="ctr" cap="flat" w="12700">
                      <a:solidFill>
                        <a:srgbClr val="595959"/>
                      </a:solidFill>
                      <a:prstDash val="solid"/>
                      <a:round/>
                      <a:headEnd type="none" w="med" len="med"/>
                      <a:tailEnd type="none" w="med" len="med"/>
                    </a:lnB>
                  </a:tcPr>
                </a:tc>
                <a:tc>
                  <a:txBody>
                    <a:bodyPr anchor="t" rtlCol="false"/>
                    <a:lstStyle/>
                    <a:p>
                      <a:pPr algn="l">
                        <a:lnSpc>
                          <a:spcPts val="2340"/>
                        </a:lnSpc>
                        <a:defRPr/>
                      </a:pPr>
                      <a:r>
                        <a:rPr lang="en-US" sz="1950">
                          <a:solidFill>
                            <a:srgbClr val="595959"/>
                          </a:solidFill>
                          <a:latin typeface="Trebuchet MS"/>
                          <a:ea typeface="Trebuchet MS"/>
                          <a:cs typeface="Trebuchet MS"/>
                          <a:sym typeface="Trebuchet MS"/>
                        </a:rPr>
                        <a:t>Twilio, Communications Authority of Kenya, Uganda Communications Commission, cybersecurity regulators</a:t>
                      </a:r>
                      <a:endParaRPr lang="en-US" sz="1100"/>
                    </a:p>
                  </a:txBody>
                  <a:tcPr marL="63077" marR="63077" marT="63077" marB="63077"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12700">
                      <a:solidFill>
                        <a:srgbClr val="00BFDF"/>
                      </a:solidFill>
                      <a:prstDash val="solid"/>
                      <a:round/>
                      <a:headEnd type="none" w="med" len="med"/>
                      <a:tailEnd type="none" w="med" len="med"/>
                    </a:lnT>
                    <a:lnB cmpd="sng" algn="ctr" cap="flat" w="12700">
                      <a:solidFill>
                        <a:srgbClr val="595959"/>
                      </a:solidFill>
                      <a:prstDash val="solid"/>
                      <a:round/>
                      <a:headEnd type="none" w="med" len="med"/>
                      <a:tailEnd type="none" w="med" len="med"/>
                    </a:lnB>
                  </a:tcPr>
                </a:tc>
              </a:tr>
            </a:tbl>
          </a:graphicData>
        </a:graphic>
      </p:graphicFrame>
      <p:grpSp>
        <p:nvGrpSpPr>
          <p:cNvPr name="Group 8" id="8"/>
          <p:cNvGrpSpPr/>
          <p:nvPr/>
        </p:nvGrpSpPr>
        <p:grpSpPr>
          <a:xfrm rot="0">
            <a:off x="15054939" y="2686"/>
            <a:ext cx="3239995" cy="522989"/>
            <a:chOff x="0" y="0"/>
            <a:chExt cx="4319994" cy="697319"/>
          </a:xfrm>
        </p:grpSpPr>
        <p:sp>
          <p:nvSpPr>
            <p:cNvPr name="Freeform 9" id="9"/>
            <p:cNvSpPr/>
            <p:nvPr/>
          </p:nvSpPr>
          <p:spPr>
            <a:xfrm flipH="false" flipV="false" rot="0">
              <a:off x="0" y="0"/>
              <a:ext cx="4320032" cy="697357"/>
            </a:xfrm>
            <a:custGeom>
              <a:avLst/>
              <a:gdLst/>
              <a:ahLst/>
              <a:cxnLst/>
              <a:rect r="r" b="b" t="t" l="l"/>
              <a:pathLst>
                <a:path h="697357" w="4320032">
                  <a:moveTo>
                    <a:pt x="0" y="0"/>
                  </a:moveTo>
                  <a:lnTo>
                    <a:pt x="4320032" y="0"/>
                  </a:lnTo>
                  <a:lnTo>
                    <a:pt x="4320032" y="697357"/>
                  </a:lnTo>
                  <a:lnTo>
                    <a:pt x="0" y="697357"/>
                  </a:lnTo>
                  <a:close/>
                </a:path>
              </a:pathLst>
            </a:custGeom>
            <a:solidFill>
              <a:srgbClr val="F79333"/>
            </a:solidFill>
          </p:spPr>
        </p:sp>
        <p:sp>
          <p:nvSpPr>
            <p:cNvPr name="TextBox 10" id="10"/>
            <p:cNvSpPr txBox="true"/>
            <p:nvPr/>
          </p:nvSpPr>
          <p:spPr>
            <a:xfrm>
              <a:off x="0" y="-9525"/>
              <a:ext cx="4319994" cy="706844"/>
            </a:xfrm>
            <a:prstGeom prst="rect">
              <a:avLst/>
            </a:prstGeom>
          </p:spPr>
          <p:txBody>
            <a:bodyPr anchor="ctr" rtlCol="false" tIns="50800" lIns="50800" bIns="50800" rIns="50800"/>
            <a:lstStyle/>
            <a:p>
              <a:pPr algn="ctr">
                <a:lnSpc>
                  <a:spcPts val="3240"/>
                </a:lnSpc>
              </a:pPr>
              <a:r>
                <a:rPr lang="en-US" sz="2700">
                  <a:solidFill>
                    <a:srgbClr val="FFFFFF"/>
                  </a:solidFill>
                  <a:latin typeface="Trebuchet MS"/>
                  <a:ea typeface="Trebuchet MS"/>
                  <a:cs typeface="Trebuchet MS"/>
                  <a:sym typeface="Trebuchet MS"/>
                </a:rPr>
                <a:t>Time: 1 min 30 sec</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700">
            <a:off x="681038" y="9575359"/>
            <a:ext cx="12025941" cy="0"/>
          </a:xfrm>
          <a:prstGeom prst="line">
            <a:avLst/>
          </a:prstGeom>
          <a:ln cap="rnd" w="9525">
            <a:solidFill>
              <a:srgbClr val="284181"/>
            </a:solidFill>
            <a:prstDash val="solid"/>
            <a:headEnd type="none" len="sm" w="sm"/>
            <a:tailEnd type="none" len="sm" w="sm"/>
          </a:ln>
        </p:spPr>
      </p:sp>
      <p:sp>
        <p:nvSpPr>
          <p:cNvPr name="AutoShape 3" id="3"/>
          <p:cNvSpPr/>
          <p:nvPr/>
        </p:nvSpPr>
        <p:spPr>
          <a:xfrm rot="-9780">
            <a:off x="12903117" y="9575359"/>
            <a:ext cx="3357534" cy="0"/>
          </a:xfrm>
          <a:prstGeom prst="line">
            <a:avLst/>
          </a:prstGeom>
          <a:ln cap="rnd" w="9525">
            <a:solidFill>
              <a:srgbClr val="00BFDF"/>
            </a:solidFill>
            <a:prstDash val="solid"/>
            <a:headEnd type="none" len="sm" w="sm"/>
            <a:tailEnd type="none" len="sm" w="sm"/>
          </a:ln>
        </p:spPr>
      </p:sp>
      <p:grpSp>
        <p:nvGrpSpPr>
          <p:cNvPr name="Group 4" id="4"/>
          <p:cNvGrpSpPr/>
          <p:nvPr/>
        </p:nvGrpSpPr>
        <p:grpSpPr>
          <a:xfrm rot="0">
            <a:off x="3139459" y="0"/>
            <a:ext cx="15166829" cy="9727178"/>
            <a:chOff x="0" y="0"/>
            <a:chExt cx="20222439" cy="12969570"/>
          </a:xfrm>
        </p:grpSpPr>
        <p:sp>
          <p:nvSpPr>
            <p:cNvPr name="Freeform 5" id="5"/>
            <p:cNvSpPr/>
            <p:nvPr/>
          </p:nvSpPr>
          <p:spPr>
            <a:xfrm flipH="false" flipV="false" rot="0">
              <a:off x="0" y="0"/>
              <a:ext cx="20222463" cy="12969621"/>
            </a:xfrm>
            <a:custGeom>
              <a:avLst/>
              <a:gdLst/>
              <a:ahLst/>
              <a:cxnLst/>
              <a:rect r="r" b="b" t="t" l="l"/>
              <a:pathLst>
                <a:path h="12969621" w="20222463">
                  <a:moveTo>
                    <a:pt x="0" y="0"/>
                  </a:moveTo>
                  <a:lnTo>
                    <a:pt x="20222463" y="0"/>
                  </a:lnTo>
                  <a:lnTo>
                    <a:pt x="20222463" y="12969621"/>
                  </a:lnTo>
                  <a:lnTo>
                    <a:pt x="0" y="12969621"/>
                  </a:lnTo>
                  <a:lnTo>
                    <a:pt x="0" y="0"/>
                  </a:lnTo>
                  <a:close/>
                </a:path>
              </a:pathLst>
            </a:custGeom>
            <a:blipFill>
              <a:blip r:embed="rId2"/>
              <a:stretch>
                <a:fillRect l="0" t="0" r="-351" b="0"/>
              </a:stretch>
            </a:blipFill>
          </p:spPr>
        </p:sp>
      </p:grpSp>
      <p:grpSp>
        <p:nvGrpSpPr>
          <p:cNvPr name="Group 6" id="6"/>
          <p:cNvGrpSpPr/>
          <p:nvPr/>
        </p:nvGrpSpPr>
        <p:grpSpPr>
          <a:xfrm rot="0">
            <a:off x="37338" y="0"/>
            <a:ext cx="18268950" cy="10287000"/>
            <a:chOff x="0" y="0"/>
            <a:chExt cx="24358600" cy="13716000"/>
          </a:xfrm>
        </p:grpSpPr>
        <p:sp>
          <p:nvSpPr>
            <p:cNvPr name="Freeform 7" id="7"/>
            <p:cNvSpPr/>
            <p:nvPr/>
          </p:nvSpPr>
          <p:spPr>
            <a:xfrm flipH="false" flipV="false" rot="0">
              <a:off x="0" y="0"/>
              <a:ext cx="24358600" cy="13716000"/>
            </a:xfrm>
            <a:custGeom>
              <a:avLst/>
              <a:gdLst/>
              <a:ahLst/>
              <a:cxnLst/>
              <a:rect r="r" b="b" t="t" l="l"/>
              <a:pathLst>
                <a:path h="13716000" w="24358600">
                  <a:moveTo>
                    <a:pt x="0" y="0"/>
                  </a:moveTo>
                  <a:lnTo>
                    <a:pt x="24358600" y="0"/>
                  </a:lnTo>
                  <a:lnTo>
                    <a:pt x="24358600" y="13716000"/>
                  </a:lnTo>
                  <a:lnTo>
                    <a:pt x="0" y="13716000"/>
                  </a:lnTo>
                  <a:lnTo>
                    <a:pt x="0" y="0"/>
                  </a:lnTo>
                  <a:close/>
                </a:path>
              </a:pathLst>
            </a:custGeom>
            <a:blipFill>
              <a:blip r:embed="rId3"/>
              <a:stretch>
                <a:fillRect l="-13" t="0" r="-13" b="0"/>
              </a:stretch>
            </a:blipFill>
          </p:spPr>
        </p:sp>
      </p:grpSp>
      <p:grpSp>
        <p:nvGrpSpPr>
          <p:cNvPr name="Group 8" id="8"/>
          <p:cNvGrpSpPr/>
          <p:nvPr/>
        </p:nvGrpSpPr>
        <p:grpSpPr>
          <a:xfrm rot="0">
            <a:off x="15338736" y="8296989"/>
            <a:ext cx="2781833" cy="1593980"/>
            <a:chOff x="0" y="0"/>
            <a:chExt cx="3709111" cy="2125307"/>
          </a:xfrm>
        </p:grpSpPr>
        <p:sp>
          <p:nvSpPr>
            <p:cNvPr name="Freeform 9" id="9"/>
            <p:cNvSpPr/>
            <p:nvPr/>
          </p:nvSpPr>
          <p:spPr>
            <a:xfrm flipH="false" flipV="false" rot="0">
              <a:off x="0" y="0"/>
              <a:ext cx="3709162" cy="2125345"/>
            </a:xfrm>
            <a:custGeom>
              <a:avLst/>
              <a:gdLst/>
              <a:ahLst/>
              <a:cxnLst/>
              <a:rect r="r" b="b" t="t" l="l"/>
              <a:pathLst>
                <a:path h="2125345" w="3709162">
                  <a:moveTo>
                    <a:pt x="0" y="0"/>
                  </a:moveTo>
                  <a:lnTo>
                    <a:pt x="3709162" y="0"/>
                  </a:lnTo>
                  <a:lnTo>
                    <a:pt x="3709162" y="2125345"/>
                  </a:lnTo>
                  <a:lnTo>
                    <a:pt x="0" y="2125345"/>
                  </a:lnTo>
                  <a:close/>
                </a:path>
              </a:pathLst>
            </a:custGeom>
            <a:solidFill>
              <a:srgbClr val="FFFFFF"/>
            </a:solidFill>
          </p:spPr>
        </p:sp>
      </p:grpSp>
      <p:grpSp>
        <p:nvGrpSpPr>
          <p:cNvPr name="Group 10" id="10"/>
          <p:cNvGrpSpPr/>
          <p:nvPr/>
        </p:nvGrpSpPr>
        <p:grpSpPr>
          <a:xfrm rot="0">
            <a:off x="512997" y="7206339"/>
            <a:ext cx="8957567" cy="897953"/>
            <a:chOff x="0" y="0"/>
            <a:chExt cx="11943423" cy="1197270"/>
          </a:xfrm>
        </p:grpSpPr>
        <p:sp>
          <p:nvSpPr>
            <p:cNvPr name="Freeform 11" id="11"/>
            <p:cNvSpPr/>
            <p:nvPr/>
          </p:nvSpPr>
          <p:spPr>
            <a:xfrm flipH="false" flipV="false" rot="0">
              <a:off x="0" y="0"/>
              <a:ext cx="11943428" cy="1197272"/>
            </a:xfrm>
            <a:custGeom>
              <a:avLst/>
              <a:gdLst/>
              <a:ahLst/>
              <a:cxnLst/>
              <a:rect r="r" b="b" t="t" l="l"/>
              <a:pathLst>
                <a:path h="1197272" w="11943428">
                  <a:moveTo>
                    <a:pt x="0" y="0"/>
                  </a:moveTo>
                  <a:lnTo>
                    <a:pt x="11943428" y="0"/>
                  </a:lnTo>
                  <a:lnTo>
                    <a:pt x="11943428" y="1197272"/>
                  </a:lnTo>
                  <a:lnTo>
                    <a:pt x="0" y="1197272"/>
                  </a:lnTo>
                  <a:close/>
                </a:path>
              </a:pathLst>
            </a:custGeom>
            <a:blipFill>
              <a:blip r:embed="rId4">
                <a:alphaModFix amt="0"/>
              </a:blip>
              <a:stretch>
                <a:fillRect l="0" t="-149123" r="0" b="-139623"/>
              </a:stretch>
            </a:blipFill>
          </p:spPr>
        </p:sp>
        <p:sp>
          <p:nvSpPr>
            <p:cNvPr name="TextBox 12" id="12"/>
            <p:cNvSpPr txBox="true"/>
            <p:nvPr/>
          </p:nvSpPr>
          <p:spPr>
            <a:xfrm>
              <a:off x="0" y="38100"/>
              <a:ext cx="11943423" cy="1159170"/>
            </a:xfrm>
            <a:prstGeom prst="rect">
              <a:avLst/>
            </a:prstGeom>
          </p:spPr>
          <p:txBody>
            <a:bodyPr anchor="b" rtlCol="false" tIns="0" lIns="0" bIns="0" rIns="0"/>
            <a:lstStyle/>
            <a:p>
              <a:pPr algn="l">
                <a:lnSpc>
                  <a:spcPts val="5248"/>
                </a:lnSpc>
              </a:pPr>
              <a:r>
                <a:rPr lang="en-US" sz="4859" b="true">
                  <a:solidFill>
                    <a:srgbClr val="284181"/>
                  </a:solidFill>
                  <a:latin typeface="Trebuchet MS Bold"/>
                  <a:ea typeface="Trebuchet MS Bold"/>
                  <a:cs typeface="Trebuchet MS Bold"/>
                  <a:sym typeface="Trebuchet MS Bold"/>
                </a:rPr>
                <a:t>Thank you.</a:t>
              </a:r>
            </a:p>
          </p:txBody>
        </p:sp>
      </p:grpSp>
      <p:grpSp>
        <p:nvGrpSpPr>
          <p:cNvPr name="Group 13" id="13"/>
          <p:cNvGrpSpPr/>
          <p:nvPr/>
        </p:nvGrpSpPr>
        <p:grpSpPr>
          <a:xfrm rot="0">
            <a:off x="14842674" y="2686"/>
            <a:ext cx="3456003" cy="522989"/>
            <a:chOff x="0" y="0"/>
            <a:chExt cx="4608004" cy="697319"/>
          </a:xfrm>
        </p:grpSpPr>
        <p:sp>
          <p:nvSpPr>
            <p:cNvPr name="Freeform 14" id="14"/>
            <p:cNvSpPr/>
            <p:nvPr/>
          </p:nvSpPr>
          <p:spPr>
            <a:xfrm flipH="false" flipV="false" rot="0">
              <a:off x="0" y="0"/>
              <a:ext cx="4607941" cy="697357"/>
            </a:xfrm>
            <a:custGeom>
              <a:avLst/>
              <a:gdLst/>
              <a:ahLst/>
              <a:cxnLst/>
              <a:rect r="r" b="b" t="t" l="l"/>
              <a:pathLst>
                <a:path h="697357" w="4607941">
                  <a:moveTo>
                    <a:pt x="0" y="0"/>
                  </a:moveTo>
                  <a:lnTo>
                    <a:pt x="4607941" y="0"/>
                  </a:lnTo>
                  <a:lnTo>
                    <a:pt x="4607941" y="697357"/>
                  </a:lnTo>
                  <a:lnTo>
                    <a:pt x="0" y="697357"/>
                  </a:lnTo>
                  <a:close/>
                </a:path>
              </a:pathLst>
            </a:custGeom>
            <a:solidFill>
              <a:srgbClr val="F79433"/>
            </a:solidFill>
          </p:spPr>
        </p:sp>
        <p:sp>
          <p:nvSpPr>
            <p:cNvPr name="TextBox 15" id="15"/>
            <p:cNvSpPr txBox="true"/>
            <p:nvPr/>
          </p:nvSpPr>
          <p:spPr>
            <a:xfrm>
              <a:off x="0" y="-9525"/>
              <a:ext cx="4608004" cy="706844"/>
            </a:xfrm>
            <a:prstGeom prst="rect">
              <a:avLst/>
            </a:prstGeom>
          </p:spPr>
          <p:txBody>
            <a:bodyPr anchor="ctr" rtlCol="false" tIns="50800" lIns="50800" bIns="50800" rIns="50800"/>
            <a:lstStyle/>
            <a:p>
              <a:pPr algn="ctr">
                <a:lnSpc>
                  <a:spcPts val="3240"/>
                </a:lnSpc>
              </a:pPr>
              <a:r>
                <a:rPr lang="en-US" sz="2700">
                  <a:solidFill>
                    <a:srgbClr val="FFFFFF"/>
                  </a:solidFill>
                  <a:latin typeface="Trebuchet MS"/>
                  <a:ea typeface="Trebuchet MS"/>
                  <a:cs typeface="Trebuchet MS"/>
                  <a:sym typeface="Trebuchet MS"/>
                </a:rPr>
                <a:t>Not to be Presented</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DAHF4-fAWkY</dc:identifier>
  <dcterms:modified xsi:type="dcterms:W3CDTF">2011-08-01T06:04:30Z</dcterms:modified>
  <cp:revision>1</cp:revision>
  <dc:title>Africa Digital ID Hackathon Template 2026.pptx</dc:title>
</cp:coreProperties>
</file>